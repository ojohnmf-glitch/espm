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· páginas em branco" id="{82e9a94f-ae34-fd13-c0f5-758c8d86b5a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teúdo da landing page" id="{aff31288-3dd3-2986-eda0-750f85cce28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no padrão do key visual: primeira linha em ivory, segunda em coral. Troque o texto; a foto e o logo vêm do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orientação. Apague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DIVISORIA.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CONTEUDO.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TITULO.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DUAS_COLUNAS.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IMAGEM.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CITACAO.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CORAL.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FECHAMENTO.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de abertura da landing: promessa principal e key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usados na landing. Confira as fontes antes da banca: IBGE, ELSI-Brasil 2023 e 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a tela do app ainda está na identidade anterior (lilás, logo antigo). Substitua pela versão Cora quando ela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image" Target="../media/CAPA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DIVISORIA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UD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DUAS_COLUNAS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M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CITACAO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ORAL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1.png"/><Relationship Id="rId3" Type="http://schemas.openxmlformats.org/officeDocument/2006/relationships/image" Target="../media/FECHAMENTO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kv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pic>
        <p:nvPicPr>
          <p:cNvPr id="3" name="Image 1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6928"/>
            <a:ext cx="1600200" cy="411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463040"/>
            <a:ext cx="3383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rgbClr val="FBF6F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BF6F1"/>
                </a:solidFill>
              </a:rPr>
              <a:t>Título da apresentação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B8B0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C9B8B0"/>
                </a:solidFill>
              </a:rPr>
              <a:t>Subtítulo · equipe · data</a:t>
            </a:r>
            <a:endParaRPr lang="en-US" sz="1400" dirty="0"/>
          </a:p>
        </p:txBody>
      </p:sp>
      <p:sp>
        <p:nvSpPr>
          <p:cNvPr id="6" name="Text 0"/>
          <p:cNvSpPr/>
          <p:nvPr/>
        </p:nvSpPr>
        <p:spPr>
          <a:xfrm>
            <a:off x="548640" y="4681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B0"/>
                </a:solidFill>
              </a:rPr>
              <a:t>Projeto acadêmico ESPM · Gestão de Produtos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6000" b="1" dirty="0">
                <a:solidFill>
                  <a:srgbClr val="FC6B59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FBF6F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FBF6F1"/>
                </a:solidFill>
              </a:rPr>
              <a:t>Nome da seção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4389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C9B8B0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C9B8B0"/>
                </a:solidFill>
              </a:rPr>
              <a:t>Uma frase sobre o que esta seção responde.</a:t>
            </a:r>
            <a:endParaRPr lang="en-US" sz="15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B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Clique para adicionar texto</a:t>
            </a:r>
            <a:endParaRPr lang="en-US" sz="1600" dirty="0"/>
          </a:p>
        </p:txBody>
      </p:sp>
      <p:pic>
        <p:nvPicPr>
          <p:cNvPr id="4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Título do slide</a:t>
            </a:r>
            <a:endParaRPr lang="en-US" sz="3000" dirty="0"/>
          </a:p>
        </p:txBody>
      </p:sp>
      <p:pic>
        <p:nvPicPr>
          <p:cNvPr id="3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_COLU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Coluna da esquerda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Coluna da direita (texto ou imagem)</a:t>
            </a:r>
            <a:endParaRPr lang="en-US" sz="16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417320"/>
            <a:ext cx="804672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6B5A55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6B5A55"/>
                </a:solidFill>
              </a:rPr>
              <a:t>Clique para adicionar uma imagem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A39590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A39590"/>
                </a:solidFill>
              </a:rPr>
              <a:t>Legenda da imagem</a:t>
            </a:r>
            <a:endParaRPr lang="en-US" sz="11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A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i="1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i="1" dirty="0">
                <a:solidFill>
                  <a:srgbClr val="2A1B18"/>
                </a:solidFill>
              </a:rPr>
              <a:t>A frase que você quer que fique na cabeça de quem assiste.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200" kern="0" dirty="0">
                <a:solidFill>
                  <a:srgbClr val="FC6B59"/>
                </a:solidFill>
              </a:rPr>
              <a:t>QUEM DISSE · CONTEXTO</a:t>
            </a:r>
            <a:endParaRPr lang="en-US" sz="11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cora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CD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FBF6F1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FBF6F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FBF6F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BF6F1"/>
                </a:solidFill>
              </a:rPr>
              <a:t>Clique para adicionar texto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D9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219456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4206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rgbClr val="FBF6F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BF6F1"/>
                </a:solidFill>
              </a:rPr>
              <a:t>Frase de encerramento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3840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B8B0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C9B8B0"/>
                </a:solidFill>
              </a:rPr>
              <a:t>Agradecimento · contato · próximos passos</a:t>
            </a:r>
            <a:endParaRPr lang="en-US" sz="1400" dirty="0"/>
          </a:p>
        </p:txBody>
      </p:sp>
      <p:pic>
        <p:nvPicPr>
          <p:cNvPr id="5" name="Image 1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B0"/>
                </a:solidFill>
              </a:rPr>
              <a:t>Projeto acadêmico ESPM · Gestão de Produtos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4630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BF6F1"/>
                </a:solidFill>
              </a:rPr>
              <a:t>Alguém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B846D"/>
                </a:solidFill>
              </a:rPr>
              <a:t>para ouvir.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8B0"/>
                </a:solidFill>
              </a:rPr>
              <a:t>Uma conversa acolhedora, próxima e de verdade.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Como usar este template</a:t>
            </a:r>
            <a:endParaRPr lang="en-US" sz="3000" dirty="0"/>
          </a:p>
        </p:txBody>
      </p:sp>
      <p:sp>
        <p:nvSpPr>
          <p:cNvPr id="3" name="guia Capa"/>
          <p:cNvSpPr/>
          <p:nvPr/>
        </p:nvSpPr>
        <p:spPr>
          <a:xfrm>
            <a:off x="548640" y="1417320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4" name="ponto 1"/>
          <p:cNvSpPr/>
          <p:nvPr/>
        </p:nvSpPr>
        <p:spPr>
          <a:xfrm>
            <a:off x="731520" y="1609344"/>
            <a:ext cx="219456" cy="219456"/>
          </a:xfrm>
          <a:prstGeom prst="ellipse">
            <a:avLst/>
          </a:prstGeom>
          <a:solidFill>
            <a:srgbClr val="FC6B59"/>
          </a:solidFill>
          <a:ln w="12700">
            <a:solidFill>
              <a:srgbClr val="FC6B59"/>
            </a:solidFill>
            <a:prstDash val="solid"/>
          </a:ln>
        </p:spPr>
      </p:sp>
      <p:sp>
        <p:nvSpPr>
          <p:cNvPr id="5" name="guia texto Capa"/>
          <p:cNvSpPr txBox="1"/>
          <p:nvPr/>
        </p:nvSpPr>
        <p:spPr>
          <a:xfrm>
            <a:off x="1097280" y="1490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Capa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Foto do key visual à direita, título em duas cores à esquerda.</a:t>
            </a:r>
            <a:endParaRPr lang="en-US" sz="1300" dirty="0"/>
          </a:p>
        </p:txBody>
      </p:sp>
      <p:sp>
        <p:nvSpPr>
          <p:cNvPr id="6" name="guia Divisória"/>
          <p:cNvSpPr/>
          <p:nvPr/>
        </p:nvSpPr>
        <p:spPr>
          <a:xfrm>
            <a:off x="4709160" y="1417320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7" name="ponto 2"/>
          <p:cNvSpPr/>
          <p:nvPr/>
        </p:nvSpPr>
        <p:spPr>
          <a:xfrm>
            <a:off x="4892040" y="1609344"/>
            <a:ext cx="219456" cy="219456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8" name="guia texto Divisória"/>
          <p:cNvSpPr txBox="1"/>
          <p:nvPr/>
        </p:nvSpPr>
        <p:spPr>
          <a:xfrm>
            <a:off x="5257800" y="1490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Divisória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Número coral + nome da seção, com o arco da marca.</a:t>
            </a:r>
            <a:endParaRPr lang="en-US" sz="1300" dirty="0"/>
          </a:p>
        </p:txBody>
      </p:sp>
      <p:sp>
        <p:nvSpPr>
          <p:cNvPr id="9" name="guia Conteúdo"/>
          <p:cNvSpPr/>
          <p:nvPr/>
        </p:nvSpPr>
        <p:spPr>
          <a:xfrm>
            <a:off x="548640" y="2130552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0" name="ponto 3"/>
          <p:cNvSpPr/>
          <p:nvPr/>
        </p:nvSpPr>
        <p:spPr>
          <a:xfrm>
            <a:off x="731520" y="2322576"/>
            <a:ext cx="219456" cy="219456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1" name="guia texto Conteúdo"/>
          <p:cNvSpPr txBox="1"/>
          <p:nvPr/>
        </p:nvSpPr>
        <p:spPr>
          <a:xfrm>
            <a:off x="1097280" y="2203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Conteúdo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Título e um corpo de texto. Para argumentos curtos.</a:t>
            </a:r>
            <a:endParaRPr lang="en-US" sz="1300" dirty="0"/>
          </a:p>
        </p:txBody>
      </p:sp>
      <p:sp>
        <p:nvSpPr>
          <p:cNvPr id="12" name="guia Só título"/>
          <p:cNvSpPr/>
          <p:nvPr/>
        </p:nvSpPr>
        <p:spPr>
          <a:xfrm>
            <a:off x="4709160" y="2130552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3" name="ponto 4"/>
          <p:cNvSpPr/>
          <p:nvPr/>
        </p:nvSpPr>
        <p:spPr>
          <a:xfrm>
            <a:off x="4892040" y="2322576"/>
            <a:ext cx="219456" cy="219456"/>
          </a:xfrm>
          <a:prstGeom prst="ellipse">
            <a:avLst/>
          </a:prstGeom>
          <a:solidFill>
            <a:srgbClr val="FB846D"/>
          </a:solidFill>
          <a:ln w="12700">
            <a:solidFill>
              <a:srgbClr val="FB846D"/>
            </a:solidFill>
            <a:prstDash val="solid"/>
          </a:ln>
        </p:spPr>
      </p:sp>
      <p:sp>
        <p:nvSpPr>
          <p:cNvPr id="14" name="guia texto Só título"/>
          <p:cNvSpPr txBox="1"/>
          <p:nvPr/>
        </p:nvSpPr>
        <p:spPr>
          <a:xfrm>
            <a:off x="5257800" y="2203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Só título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Título e área livre. Para cards, gráficos e tabelas.</a:t>
            </a:r>
            <a:endParaRPr lang="en-US" sz="1300" dirty="0"/>
          </a:p>
        </p:txBody>
      </p:sp>
      <p:sp>
        <p:nvSpPr>
          <p:cNvPr id="15" name="guia Duas colunas"/>
          <p:cNvSpPr/>
          <p:nvPr/>
        </p:nvSpPr>
        <p:spPr>
          <a:xfrm>
            <a:off x="548640" y="2843784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6" name="ponto 5"/>
          <p:cNvSpPr/>
          <p:nvPr/>
        </p:nvSpPr>
        <p:spPr>
          <a:xfrm>
            <a:off x="731520" y="3035808"/>
            <a:ext cx="219456" cy="219456"/>
          </a:xfrm>
          <a:prstGeom prst="ellipse">
            <a:avLst/>
          </a:prstGeom>
          <a:solidFill>
            <a:srgbClr val="FC6B59"/>
          </a:solidFill>
          <a:ln w="12700">
            <a:solidFill>
              <a:srgbClr val="FC6B59"/>
            </a:solidFill>
            <a:prstDash val="solid"/>
          </a:ln>
        </p:spPr>
      </p:sp>
      <p:sp>
        <p:nvSpPr>
          <p:cNvPr id="17" name="guia texto Duas colunas"/>
          <p:cNvSpPr txBox="1"/>
          <p:nvPr/>
        </p:nvSpPr>
        <p:spPr>
          <a:xfrm>
            <a:off x="109728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Duas colunas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Texto à esquerda, texto ou imagem à direita.</a:t>
            </a:r>
            <a:endParaRPr lang="en-US" sz="1300" dirty="0"/>
          </a:p>
        </p:txBody>
      </p:sp>
      <p:sp>
        <p:nvSpPr>
          <p:cNvPr id="18" name="guia Imagem"/>
          <p:cNvSpPr/>
          <p:nvPr/>
        </p:nvSpPr>
        <p:spPr>
          <a:xfrm>
            <a:off x="4709160" y="2843784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9" name="ponto 6"/>
          <p:cNvSpPr/>
          <p:nvPr/>
        </p:nvSpPr>
        <p:spPr>
          <a:xfrm>
            <a:off x="4892040" y="3035808"/>
            <a:ext cx="219456" cy="219456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20" name="guia texto Imagem"/>
          <p:cNvSpPr txBox="1"/>
          <p:nvPr/>
        </p:nvSpPr>
        <p:spPr>
          <a:xfrm>
            <a:off x="525780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Imagem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Uma imagem grande com legenda. Para telas e fotos.</a:t>
            </a:r>
            <a:endParaRPr lang="en-US" sz="1300" dirty="0"/>
          </a:p>
        </p:txBody>
      </p:sp>
      <p:sp>
        <p:nvSpPr>
          <p:cNvPr id="21" name="guia Citação"/>
          <p:cNvSpPr/>
          <p:nvPr/>
        </p:nvSpPr>
        <p:spPr>
          <a:xfrm>
            <a:off x="548640" y="3557016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2" name="ponto 7"/>
          <p:cNvSpPr/>
          <p:nvPr/>
        </p:nvSpPr>
        <p:spPr>
          <a:xfrm>
            <a:off x="731520" y="3749040"/>
            <a:ext cx="219456" cy="219456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3" name="guia texto Citação"/>
          <p:cNvSpPr txBox="1"/>
          <p:nvPr/>
        </p:nvSpPr>
        <p:spPr>
          <a:xfrm>
            <a:off x="1097280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Citação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Frase em destaque com autoria. Para vozes do usuário.</a:t>
            </a:r>
            <a:endParaRPr lang="en-US" sz="1300" dirty="0"/>
          </a:p>
        </p:txBody>
      </p:sp>
      <p:sp>
        <p:nvSpPr>
          <p:cNvPr id="24" name="guia Coral e Fechamento"/>
          <p:cNvSpPr/>
          <p:nvPr/>
        </p:nvSpPr>
        <p:spPr>
          <a:xfrm>
            <a:off x="4709160" y="3557016"/>
            <a:ext cx="38862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5" name="ponto 8"/>
          <p:cNvSpPr/>
          <p:nvPr/>
        </p:nvSpPr>
        <p:spPr>
          <a:xfrm>
            <a:off x="4892040" y="3749040"/>
            <a:ext cx="219456" cy="219456"/>
          </a:xfrm>
          <a:prstGeom prst="ellipse">
            <a:avLst/>
          </a:prstGeom>
          <a:solidFill>
            <a:srgbClr val="FB846D"/>
          </a:solidFill>
          <a:ln w="12700">
            <a:solidFill>
              <a:srgbClr val="FB846D"/>
            </a:solidFill>
            <a:prstDash val="solid"/>
          </a:ln>
        </p:spPr>
      </p:sp>
      <p:sp>
        <p:nvSpPr>
          <p:cNvPr id="26" name="guia texto Coral e Fechamento"/>
          <p:cNvSpPr txBox="1"/>
          <p:nvPr/>
        </p:nvSpPr>
        <p:spPr>
          <a:xfrm>
            <a:off x="5257800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Coral e Fechamento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5"/>
                </a:solidFill>
              </a:rPr>
              <a:t>Afirmações fortes em coral chapado e o slide final.</a:t>
            </a:r>
            <a:endParaRPr lang="en-US" sz="1300" dirty="0"/>
          </a:p>
        </p:txBody>
      </p:sp>
      <p:sp>
        <p:nvSpPr>
          <p:cNvPr id="27" name="dica"/>
          <p:cNvSpPr txBox="1"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590"/>
                </a:solidFill>
              </a:rPr>
              <a:t>Códigos da marca: coral, o arco em “C”, serifa em duas cores e a pílula. Poucos por slide; títulos sem ponto final.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1945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hasCustomPrompt="1"/>
          </p:nvPr>
        </p:nvSpPr>
        <p:spPr>
          <a:xfrm>
            <a:off x="548640" y="1417320"/>
            <a:ext cx="8046720" cy="2788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D9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C6B59"/>
                </a:solidFill>
              </a:rPr>
              <a:t>A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BF6F1"/>
                </a:solidFill>
              </a:rPr>
              <a:t>Conteúdo da landing page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B8B0"/>
                </a:solidFill>
              </a:rPr>
              <a:t>Os blocos do site que fazem sentido em uma apresentação, já na identidade da Cora.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Sua mãe tem com quem conversar. </a:t>
            </a:r>
            <a:pPr indent="0" marL="0">
              <a:buNone/>
            </a:pPr>
            <a:r>
              <a:rPr lang="en-US" sz="3000" i="1" dirty="0">
                <a:solidFill>
                  <a:srgbClr val="FB846D"/>
                </a:solidFill>
              </a:rPr>
              <a:t>Todo dia.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COMPANHEIRA POR VÍDEO PARA QUEM MORA SOZINHO</a:t>
            </a:r>
            <a:endParaRPr lang="en-US" sz="9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783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5A55"/>
                </a:solidFill>
              </a:rPr>
              <a:t>A Cora liga no fim da tarde, lembra do papo de ontem e puxa assunto. Ninguém precisa pedir. Alguém com quem conversar de verdade.</a:t>
            </a:r>
            <a:endParaRPr lang="en-US" sz="1600" dirty="0"/>
          </a:p>
        </p:txBody>
      </p:sp>
      <p:sp>
        <p:nvSpPr>
          <p:cNvPr id="5" name="nota"/>
          <p:cNvSpPr txBox="1"/>
          <p:nvPr/>
        </p:nvSpPr>
        <p:spPr>
          <a:xfrm>
            <a:off x="54864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9590"/>
                </a:solidFill>
              </a:rPr>
              <a:t>Sem digitar. Sem aplicativo complicado. Só atender.</a:t>
            </a:r>
            <a:endParaRPr lang="en-US" sz="1200" dirty="0"/>
          </a:p>
        </p:txBody>
      </p:sp>
      <p:sp>
        <p:nvSpPr>
          <p:cNvPr id="6" name="pílula Conheça a Cora"/>
          <p:cNvSpPr/>
          <p:nvPr/>
        </p:nvSpPr>
        <p:spPr>
          <a:xfrm>
            <a:off x="548640" y="374904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B846D"/>
          </a:solidFill>
          <a:ln w="12700">
            <a:solidFill>
              <a:srgbClr val="FB846D"/>
            </a:solidFill>
            <a:prstDash val="solid"/>
          </a:ln>
        </p:spPr>
      </p:sp>
      <p:sp>
        <p:nvSpPr>
          <p:cNvPr id="7" name="pílula texto Conheça a Cora"/>
          <p:cNvSpPr txBox="1"/>
          <p:nvPr/>
        </p:nvSpPr>
        <p:spPr>
          <a:xfrm>
            <a:off x="54864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B18"/>
                </a:solidFill>
              </a:rPr>
              <a:t>Conheça a Cora  →</a:t>
            </a:r>
            <a:endParaRPr lang="en-US" sz="1200" dirty="0"/>
          </a:p>
        </p:txBody>
      </p:sp>
      <p:pic>
        <p:nvPicPr>
          <p:cNvPr id="8" name="key visual" descr="/tmp/claude-0/-home-user-espm/4ada8e6d-90e3-5cae-a464-bc23024773ff/scratchpad/deck/kv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3017520" cy="3081528"/>
          </a:xfrm>
          <a:prstGeom prst="rect">
            <a:avLst/>
          </a:prstGeom>
        </p:spPr>
      </p:pic>
      <p:sp>
        <p:nvSpPr>
          <p:cNvPr id="9" name="chamada"/>
          <p:cNvSpPr/>
          <p:nvPr/>
        </p:nvSpPr>
        <p:spPr>
          <a:xfrm>
            <a:off x="5760720" y="3840480"/>
            <a:ext cx="2651760" cy="502920"/>
          </a:xfrm>
          <a:prstGeom prst="roundRect">
            <a:avLst>
              <a:gd name="adj" fmla="val 29091"/>
            </a:avLst>
          </a:prstGeom>
          <a:solidFill>
            <a:srgbClr val="2A1B18"/>
          </a:solidFill>
          <a:ln w="9525">
            <a:solidFill>
              <a:srgbClr val="2A1B18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0" name="chamada ponto"/>
          <p:cNvSpPr/>
          <p:nvPr/>
        </p:nvSpPr>
        <p:spPr>
          <a:xfrm>
            <a:off x="5897880" y="3941064"/>
            <a:ext cx="292608" cy="292608"/>
          </a:xfrm>
          <a:prstGeom prst="ellipse">
            <a:avLst/>
          </a:prstGeom>
          <a:solidFill>
            <a:srgbClr val="FB846D"/>
          </a:solidFill>
          <a:ln w="12700">
            <a:solidFill>
              <a:srgbClr val="FB846D"/>
            </a:solidFill>
            <a:prstDash val="solid"/>
          </a:ln>
        </p:spPr>
      </p:sp>
      <p:sp>
        <p:nvSpPr>
          <p:cNvPr id="11" name="chamada texto"/>
          <p:cNvSpPr txBox="1"/>
          <p:nvPr/>
        </p:nvSpPr>
        <p:spPr>
          <a:xfrm>
            <a:off x="6309360" y="3858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6F1"/>
                </a:solidFill>
              </a:rPr>
              <a:t>Cora está chamando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9B8B0"/>
                </a:solidFill>
              </a:rPr>
              <a:t>17:30 · fim de tarde, como combinado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Por que a Cora existe</a:t>
            </a:r>
            <a:endParaRPr 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548640" y="150876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4" name="stat número 1"/>
          <p:cNvSpPr txBox="1"/>
          <p:nvPr/>
        </p:nvSpPr>
        <p:spPr>
          <a:xfrm>
            <a:off x="822960" y="1874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 mi</a:t>
            </a:r>
            <a:endParaRPr lang="en-US" sz="4600" dirty="0"/>
          </a:p>
        </p:txBody>
      </p:sp>
      <p:sp>
        <p:nvSpPr>
          <p:cNvPr id="5" name="stat texto 1"/>
          <p:cNvSpPr txBox="1"/>
          <p:nvPr/>
        </p:nvSpPr>
        <p:spPr>
          <a:xfrm>
            <a:off x="82296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55"/>
                </a:solidFill>
              </a:rPr>
              <a:t>idosos moram sozinhos no Brasil.</a:t>
            </a:r>
            <a:endParaRPr lang="en-US" sz="1300" dirty="0"/>
          </a:p>
        </p:txBody>
      </p:sp>
      <p:sp>
        <p:nvSpPr>
          <p:cNvPr id="6" name="stat fonte 1"/>
          <p:cNvSpPr txBox="1"/>
          <p:nvPr/>
        </p:nvSpPr>
        <p:spPr>
          <a:xfrm>
            <a:off x="82296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9590"/>
                </a:solidFill>
              </a:rPr>
              <a:t>IBGE</a:t>
            </a:r>
            <a:endParaRPr lang="en-US" sz="900" dirty="0"/>
          </a:p>
        </p:txBody>
      </p:sp>
      <p:sp>
        <p:nvSpPr>
          <p:cNvPr id="7" name="stat 2"/>
          <p:cNvSpPr/>
          <p:nvPr/>
        </p:nvSpPr>
        <p:spPr>
          <a:xfrm>
            <a:off x="3314700" y="150876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stat número 2"/>
          <p:cNvSpPr txBox="1"/>
          <p:nvPr/>
        </p:nvSpPr>
        <p:spPr>
          <a:xfrm>
            <a:off x="3589020" y="1874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2,4×</a:t>
            </a:r>
            <a:endParaRPr lang="en-US" sz="4600" dirty="0"/>
          </a:p>
        </p:txBody>
      </p:sp>
      <p:sp>
        <p:nvSpPr>
          <p:cNvPr id="9" name="stat texto 2"/>
          <p:cNvSpPr txBox="1"/>
          <p:nvPr/>
        </p:nvSpPr>
        <p:spPr>
          <a:xfrm>
            <a:off x="358902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55"/>
                </a:solidFill>
              </a:rPr>
              <a:t>mais chance de solidão constante para quem mora só.</a:t>
            </a:r>
            <a:endParaRPr lang="en-US" sz="1300" dirty="0"/>
          </a:p>
        </p:txBody>
      </p:sp>
      <p:sp>
        <p:nvSpPr>
          <p:cNvPr id="10" name="stat fonte 2"/>
          <p:cNvSpPr txBox="1"/>
          <p:nvPr/>
        </p:nvSpPr>
        <p:spPr>
          <a:xfrm>
            <a:off x="358902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9590"/>
                </a:solidFill>
              </a:rPr>
              <a:t>ELSI-BRASIL, 2023</a:t>
            </a:r>
            <a:endParaRPr lang="en-US" sz="900" dirty="0"/>
          </a:p>
        </p:txBody>
      </p:sp>
      <p:sp>
        <p:nvSpPr>
          <p:cNvPr id="11" name="stat 3"/>
          <p:cNvSpPr/>
          <p:nvPr/>
        </p:nvSpPr>
        <p:spPr>
          <a:xfrm>
            <a:off x="6080760" y="150876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2" name="stat número 3"/>
          <p:cNvSpPr txBox="1"/>
          <p:nvPr/>
        </p:nvSpPr>
        <p:spPr>
          <a:xfrm>
            <a:off x="6355080" y="1874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600" dirty="0"/>
          </a:p>
        </p:txBody>
      </p:sp>
      <p:sp>
        <p:nvSpPr>
          <p:cNvPr id="13" name="stat texto 3"/>
          <p:cNvSpPr txBox="1"/>
          <p:nvPr/>
        </p:nvSpPr>
        <p:spPr>
          <a:xfrm>
            <a:off x="635508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55"/>
                </a:solidFill>
              </a:rPr>
              <a:t>o risco de depressão quando a solidão vira rotina.</a:t>
            </a:r>
            <a:endParaRPr lang="en-US" sz="1300" dirty="0"/>
          </a:p>
        </p:txBody>
      </p:sp>
      <p:sp>
        <p:nvSpPr>
          <p:cNvPr id="14" name="stat fonte 3"/>
          <p:cNvSpPr txBox="1"/>
          <p:nvPr/>
        </p:nvSpPr>
        <p:spPr>
          <a:xfrm>
            <a:off x="635508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9590"/>
                </a:solidFill>
              </a:rPr>
              <a:t>OMS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A1B18"/>
                </a:solidFill>
              </a:rPr>
              <a:t>A vontade de conversar aparece quando não há ninguém disponível: a tarde vazia, o fim de semana sem ligação, a insônia, a notícia ruim que não tem para quem contar.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6B59"/>
                </a:solidFill>
              </a:rPr>
              <a:t>MANIFESTO · A CORA EXISTE PARA ESTAR PRESENTE EM TODOS ESSES MOMENTOS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Uma companheira que toma a iniciativa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5"/>
                </a:solidFill>
              </a:rPr>
              <a:t>Vive no tablet que já está na sala. Chama por vídeo no horário combinado, cumprimenta pelo nome e continua a conversa de onde parou.</a:t>
            </a:r>
            <a:endParaRPr lang="en-US" sz="1400" dirty="0"/>
          </a:p>
        </p:txBody>
      </p:sp>
      <p:sp>
        <p:nvSpPr>
          <p:cNvPr id="4" name="card Ela chama"/>
          <p:cNvSpPr/>
          <p:nvPr/>
        </p:nvSpPr>
        <p:spPr>
          <a:xfrm>
            <a:off x="548640" y="1920240"/>
            <a:ext cx="1874520" cy="251460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num Ela chama"/>
          <p:cNvSpPr txBox="1"/>
          <p:nvPr/>
        </p:nvSpPr>
        <p:spPr>
          <a:xfrm>
            <a:off x="777240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ítulo Ela chama"/>
          <p:cNvSpPr txBox="1"/>
          <p:nvPr/>
        </p:nvSpPr>
        <p:spPr>
          <a:xfrm>
            <a:off x="7772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 chama</a:t>
            </a:r>
            <a:endParaRPr lang="en-US" sz="1600" dirty="0"/>
          </a:p>
        </p:txBody>
      </p:sp>
      <p:sp>
        <p:nvSpPr>
          <p:cNvPr id="7" name="texto Ela chama"/>
          <p:cNvSpPr txBox="1"/>
          <p:nvPr/>
        </p:nvSpPr>
        <p:spPr>
          <a:xfrm>
            <a:off x="7772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A conversa começa do lado de lá. Quando o dia esvazia, a Cora aparece com um assunto pronto.</a:t>
            </a:r>
            <a:endParaRPr lang="en-US" sz="1150" dirty="0"/>
          </a:p>
        </p:txBody>
      </p:sp>
      <p:sp>
        <p:nvSpPr>
          <p:cNvPr id="8" name="card Lembra da sua história"/>
          <p:cNvSpPr/>
          <p:nvPr/>
        </p:nvSpPr>
        <p:spPr>
          <a:xfrm>
            <a:off x="2606040" y="1920240"/>
            <a:ext cx="1874520" cy="251460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9" name="num Lembra da sua história"/>
          <p:cNvSpPr txBox="1"/>
          <p:nvPr/>
        </p:nvSpPr>
        <p:spPr>
          <a:xfrm>
            <a:off x="2834640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ítulo Lembra da sua história"/>
          <p:cNvSpPr txBox="1"/>
          <p:nvPr/>
        </p:nvSpPr>
        <p:spPr>
          <a:xfrm>
            <a:off x="28346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 da sua história</a:t>
            </a:r>
            <a:endParaRPr lang="en-US" sz="1600" dirty="0"/>
          </a:p>
        </p:txBody>
      </p:sp>
      <p:sp>
        <p:nvSpPr>
          <p:cNvPr id="11" name="texto Lembra da sua história"/>
          <p:cNvSpPr txBox="1"/>
          <p:nvPr/>
        </p:nvSpPr>
        <p:spPr>
          <a:xfrm>
            <a:off x="28346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Nomes, remédios, o que foi dito ontem. Cada conversa continua a anterior.</a:t>
            </a:r>
            <a:endParaRPr lang="en-US" sz="1150" dirty="0"/>
          </a:p>
        </p:txBody>
      </p:sp>
      <p:sp>
        <p:nvSpPr>
          <p:cNvPr id="12" name="card Devolve ao convívio"/>
          <p:cNvSpPr/>
          <p:nvPr/>
        </p:nvSpPr>
        <p:spPr>
          <a:xfrm>
            <a:off x="4663440" y="1920240"/>
            <a:ext cx="1874520" cy="251460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3" name="num Devolve ao convívio"/>
          <p:cNvSpPr txBox="1"/>
          <p:nvPr/>
        </p:nvSpPr>
        <p:spPr>
          <a:xfrm>
            <a:off x="4892040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ítulo Devolve ao convívio"/>
          <p:cNvSpPr txBox="1"/>
          <p:nvPr/>
        </p:nvSpPr>
        <p:spPr>
          <a:xfrm>
            <a:off x="48920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 ao convívio</a:t>
            </a:r>
            <a:endParaRPr lang="en-US" sz="1600" dirty="0"/>
          </a:p>
        </p:txBody>
      </p:sp>
      <p:sp>
        <p:nvSpPr>
          <p:cNvPr id="15" name="texto Devolve ao convívio"/>
          <p:cNvSpPr txBox="1"/>
          <p:nvPr/>
        </p:nvSpPr>
        <p:spPr>
          <a:xfrm>
            <a:off x="48920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Puxa a ligação para a família com assunto pronto. A meta é gente de verdade, não tempo de tela.</a:t>
            </a:r>
            <a:endParaRPr lang="en-US" sz="1150" dirty="0"/>
          </a:p>
        </p:txBody>
      </p:sp>
      <p:sp>
        <p:nvSpPr>
          <p:cNvPr id="16" name="card Modo Família"/>
          <p:cNvSpPr/>
          <p:nvPr/>
        </p:nvSpPr>
        <p:spPr>
          <a:xfrm>
            <a:off x="6720840" y="1920240"/>
            <a:ext cx="1874520" cy="251460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7" name="num Modo Família"/>
          <p:cNvSpPr txBox="1"/>
          <p:nvPr/>
        </p:nvSpPr>
        <p:spPr>
          <a:xfrm>
            <a:off x="6949440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ítulo Modo Família"/>
          <p:cNvSpPr txBox="1"/>
          <p:nvPr/>
        </p:nvSpPr>
        <p:spPr>
          <a:xfrm>
            <a:off x="69494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Família</a:t>
            </a:r>
            <a:endParaRPr lang="en-US" sz="1600" dirty="0"/>
          </a:p>
        </p:txBody>
      </p:sp>
      <p:sp>
        <p:nvSpPr>
          <p:cNvPr id="19" name="texto Modo Família"/>
          <p:cNvSpPr txBox="1"/>
          <p:nvPr/>
        </p:nvSpPr>
        <p:spPr>
          <a:xfrm>
            <a:off x="69494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Quem paga é o filho, quem conversa é a mãe. Resumo semanal e aviso quando a rotina muda.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Ela chama. A conversa começa do lado de lá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Quando o dia esvazia, a Cora aparece na tela com um “boa tarde, Dona Lúcia” e um assunto pronto: a feira, o neto, o remédio das seis.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Conversa por voz, sem digitar, sem menu.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A39590"/>
                </a:solidFill>
              </a:rPr>
              <a:t>Transcrição ilustrativa de uma chamada de vídeo, terça, 17:32.</a:t>
            </a:r>
            <a:endParaRPr lang="en-US" sz="1600" dirty="0"/>
          </a:p>
        </p:txBody>
      </p:sp>
      <p:sp>
        <p:nvSpPr>
          <p:cNvPr id="4" name="chat"/>
          <p:cNvSpPr/>
          <p:nvPr/>
        </p:nvSpPr>
        <p:spPr>
          <a:xfrm>
            <a:off x="4754880" y="1463040"/>
            <a:ext cx="3840480" cy="3017520"/>
          </a:xfrm>
          <a:prstGeom prst="roundRect">
            <a:avLst>
              <a:gd name="adj" fmla="val 4848"/>
            </a:avLst>
          </a:prstGeom>
          <a:solidFill>
            <a:srgbClr val="FBF6F1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chat meta"/>
          <p:cNvSpPr txBox="1"/>
          <p:nvPr/>
        </p:nvSpPr>
        <p:spPr>
          <a:xfrm>
            <a:off x="475488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39590"/>
                </a:solidFill>
              </a:rPr>
              <a:t>CHAMADA DE VÍDEO · TERÇA, 17:32</a:t>
            </a:r>
            <a:endParaRPr lang="en-US" sz="800" dirty="0"/>
          </a:p>
        </p:txBody>
      </p:sp>
      <p:sp>
        <p:nvSpPr>
          <p:cNvPr id="6" name="balão Cora"/>
          <p:cNvSpPr/>
          <p:nvPr/>
        </p:nvSpPr>
        <p:spPr>
          <a:xfrm>
            <a:off x="4937760" y="1874520"/>
            <a:ext cx="30175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</p:spPr>
      </p:sp>
      <p:sp>
        <p:nvSpPr>
          <p:cNvPr id="7" name="texto Cora"/>
          <p:cNvSpPr txBox="1"/>
          <p:nvPr/>
        </p:nvSpPr>
        <p:spPr>
          <a:xfrm>
            <a:off x="5074920" y="192938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C6B59"/>
                </a:solidFill>
              </a:rPr>
              <a:t>Cora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Boa tarde, Dona Lúcia. Ontem a senhora ia me contar como foi a feira.</a:t>
            </a:r>
            <a:endParaRPr lang="en-US" sz="900" dirty="0"/>
          </a:p>
        </p:txBody>
      </p:sp>
      <p:sp>
        <p:nvSpPr>
          <p:cNvPr id="8" name="balão Dona Lúcia"/>
          <p:cNvSpPr/>
          <p:nvPr/>
        </p:nvSpPr>
        <p:spPr>
          <a:xfrm>
            <a:off x="5394960" y="2697480"/>
            <a:ext cx="3017520" cy="594360"/>
          </a:xfrm>
          <a:prstGeom prst="roundRect">
            <a:avLst>
              <a:gd name="adj" fmla="val 21538"/>
            </a:avLst>
          </a:prstGeom>
          <a:solidFill>
            <a:srgbClr val="FDE3D6"/>
          </a:solidFill>
          <a:ln w="9525">
            <a:solidFill>
              <a:srgbClr val="FDE3D6"/>
            </a:solidFill>
            <a:prstDash val="solid"/>
          </a:ln>
        </p:spPr>
      </p:sp>
      <p:sp>
        <p:nvSpPr>
          <p:cNvPr id="9" name="texto Dona Lúcia"/>
          <p:cNvSpPr txBox="1"/>
          <p:nvPr/>
        </p:nvSpPr>
        <p:spPr>
          <a:xfrm>
            <a:off x="5532120" y="275234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5A55"/>
                </a:solidFill>
              </a:rPr>
              <a:t>Dona Lúcia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Foi boa. Achei o queijo que a Marta gosta.</a:t>
            </a:r>
            <a:endParaRPr lang="en-US" sz="900" dirty="0"/>
          </a:p>
        </p:txBody>
      </p:sp>
      <p:sp>
        <p:nvSpPr>
          <p:cNvPr id="10" name="balão Cora"/>
          <p:cNvSpPr/>
          <p:nvPr/>
        </p:nvSpPr>
        <p:spPr>
          <a:xfrm>
            <a:off x="4937760" y="3383280"/>
            <a:ext cx="32918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</p:spPr>
      </p:sp>
      <p:sp>
        <p:nvSpPr>
          <p:cNvPr id="11" name="texto Cora"/>
          <p:cNvSpPr txBox="1"/>
          <p:nvPr/>
        </p:nvSpPr>
        <p:spPr>
          <a:xfrm>
            <a:off x="5074920" y="34381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C6B59"/>
                </a:solidFill>
              </a:rPr>
              <a:t>Cora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Então domingo tem bolo e queijo. Quer ligar pra ela e avisar? Eu disco pra senhora.</a:t>
            </a:r>
            <a:endParaRPr lang="en-US" sz="9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Escolha quem vai conversar com a sua mãe</a:t>
            </a:r>
            <a:endParaRPr lang="en-US" sz="3000" dirty="0"/>
          </a:p>
        </p:txBody>
      </p:sp>
      <p:pic>
        <p:nvPicPr>
          <p:cNvPr id="3" name="Image 0" descr="/tmp/claude-0/-home-user-espm/4ada8e6d-90e3-5cae-a464-bc23024773ff/scratchpad/deck/estudio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417320"/>
            <a:ext cx="4956048" cy="2788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590"/>
                </a:solidFill>
              </a:rPr>
              <a:t>Nome, aparência e jeito de falar são escolhidos junto com ela na instalação. Sua mãe e você sempre sabem que é uma companheira virtual.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Conversar não devia depender de pedir</a:t>
            </a:r>
            <a:endParaRPr lang="en-US" sz="3000" dirty="0"/>
          </a:p>
        </p:txBody>
      </p:sp>
      <p:sp>
        <p:nvSpPr>
          <p:cNvPr id="3" name="cab dor"/>
          <p:cNvSpPr txBox="1"/>
          <p:nvPr/>
        </p:nvSpPr>
        <p:spPr>
          <a:xfrm>
            <a:off x="5486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9590"/>
                </a:solidFill>
              </a:rPr>
              <a:t>A DOR</a:t>
            </a:r>
            <a:endParaRPr lang="en-US" sz="900" dirty="0"/>
          </a:p>
        </p:txBody>
      </p:sp>
      <p:sp>
        <p:nvSpPr>
          <p:cNvPr id="4" name="cab alívio"/>
          <p:cNvSpPr txBox="1"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C6B59"/>
                </a:solidFill>
              </a:rPr>
              <a:t>COM A CORA</a:t>
            </a:r>
            <a:endParaRPr lang="en-US" sz="900" dirty="0"/>
          </a:p>
        </p:txBody>
      </p:sp>
      <p:sp>
        <p:nvSpPr>
          <p:cNvPr id="5" name="par 1"/>
          <p:cNvSpPr/>
          <p:nvPr/>
        </p:nvSpPr>
        <p:spPr>
          <a:xfrm>
            <a:off x="548640" y="1645920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6" name="dor 1"/>
          <p:cNvSpPr txBox="1"/>
          <p:nvPr/>
        </p:nvSpPr>
        <p:spPr>
          <a:xfrm>
            <a:off x="731520" y="1645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Ninguém disponível na hora: a tarde vazia, o fim de semana sem ligação, a insônia.</a:t>
            </a:r>
            <a:endParaRPr lang="en-US" sz="1150" dirty="0"/>
          </a:p>
        </p:txBody>
      </p:sp>
      <p:sp>
        <p:nvSpPr>
          <p:cNvPr id="7" name="ponto 9"/>
          <p:cNvSpPr/>
          <p:nvPr/>
        </p:nvSpPr>
        <p:spPr>
          <a:xfrm>
            <a:off x="4370832" y="1792224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8" name="seta 1"/>
          <p:cNvSpPr txBox="1"/>
          <p:nvPr/>
        </p:nvSpPr>
        <p:spPr>
          <a:xfrm>
            <a:off x="4370832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18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alívio 1"/>
          <p:cNvSpPr txBox="1"/>
          <p:nvPr/>
        </p:nvSpPr>
        <p:spPr>
          <a:xfrm>
            <a:off x="4846320" y="1645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Disponível de madrugada e no fim de semana. E é ela quem chama.</a:t>
            </a:r>
            <a:endParaRPr lang="en-US" sz="1250" dirty="0"/>
          </a:p>
        </p:txBody>
      </p:sp>
      <p:sp>
        <p:nvSpPr>
          <p:cNvPr id="10" name="par 2"/>
          <p:cNvSpPr/>
          <p:nvPr/>
        </p:nvSpPr>
        <p:spPr>
          <a:xfrm>
            <a:off x="548640" y="2258568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1" name="dor 2"/>
          <p:cNvSpPr txBox="1"/>
          <p:nvPr/>
        </p:nvSpPr>
        <p:spPr>
          <a:xfrm>
            <a:off x="73152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Medo de ser um peso. Quanto mais só, menos força para pedir.</a:t>
            </a:r>
            <a:endParaRPr lang="en-US" sz="1150" dirty="0"/>
          </a:p>
        </p:txBody>
      </p:sp>
      <p:sp>
        <p:nvSpPr>
          <p:cNvPr id="12" name="ponto 10"/>
          <p:cNvSpPr/>
          <p:nvPr/>
        </p:nvSpPr>
        <p:spPr>
          <a:xfrm>
            <a:off x="4370832" y="2404872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13" name="seta 2"/>
          <p:cNvSpPr txBox="1"/>
          <p:nvPr/>
        </p:nvSpPr>
        <p:spPr>
          <a:xfrm>
            <a:off x="4370832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18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alívio 2"/>
          <p:cNvSpPr txBox="1"/>
          <p:nvPr/>
        </p:nvSpPr>
        <p:spPr>
          <a:xfrm>
            <a:off x="484632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precisa pedir. A iniciativa vem do lado de lá, todo dia.</a:t>
            </a:r>
            <a:endParaRPr lang="en-US" sz="1250" dirty="0"/>
          </a:p>
        </p:txBody>
      </p:sp>
      <p:sp>
        <p:nvSpPr>
          <p:cNvPr id="15" name="par 3"/>
          <p:cNvSpPr/>
          <p:nvPr/>
        </p:nvSpPr>
        <p:spPr>
          <a:xfrm>
            <a:off x="548640" y="2871216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6" name="dor 3"/>
          <p:cNvSpPr txBox="1"/>
          <p:nvPr/>
        </p:nvSpPr>
        <p:spPr>
          <a:xfrm>
            <a:off x="731520" y="28712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Vergonha de admitir a solidão, até para os filhos.</a:t>
            </a:r>
            <a:endParaRPr lang="en-US" sz="1150" dirty="0"/>
          </a:p>
        </p:txBody>
      </p:sp>
      <p:sp>
        <p:nvSpPr>
          <p:cNvPr id="17" name="ponto 11"/>
          <p:cNvSpPr/>
          <p:nvPr/>
        </p:nvSpPr>
        <p:spPr>
          <a:xfrm>
            <a:off x="4370832" y="3017520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18" name="seta 3"/>
          <p:cNvSpPr txBox="1"/>
          <p:nvPr/>
        </p:nvSpPr>
        <p:spPr>
          <a:xfrm>
            <a:off x="4370832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18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alívio 3"/>
          <p:cNvSpPr txBox="1"/>
          <p:nvPr/>
        </p:nvSpPr>
        <p:spPr>
          <a:xfrm>
            <a:off x="4846320" y="28712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julga. Dá para dizer que o dia foi vazio sem virar preocupação.</a:t>
            </a:r>
            <a:endParaRPr lang="en-US" sz="1250" dirty="0"/>
          </a:p>
        </p:txBody>
      </p:sp>
      <p:sp>
        <p:nvSpPr>
          <p:cNvPr id="20" name="par 4"/>
          <p:cNvSpPr/>
          <p:nvPr/>
        </p:nvSpPr>
        <p:spPr>
          <a:xfrm>
            <a:off x="548640" y="3483864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1" name="dor 4"/>
          <p:cNvSpPr txBox="1"/>
          <p:nvPr/>
        </p:nvSpPr>
        <p:spPr>
          <a:xfrm>
            <a:off x="731520" y="34838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Tecnologia que exige digitar, tocar no lugar certo, entender menu.</a:t>
            </a:r>
            <a:endParaRPr lang="en-US" sz="1150" dirty="0"/>
          </a:p>
        </p:txBody>
      </p:sp>
      <p:sp>
        <p:nvSpPr>
          <p:cNvPr id="22" name="ponto 12"/>
          <p:cNvSpPr/>
          <p:nvPr/>
        </p:nvSpPr>
        <p:spPr>
          <a:xfrm>
            <a:off x="4370832" y="3630168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23" name="seta 4"/>
          <p:cNvSpPr txBox="1"/>
          <p:nvPr/>
        </p:nvSpPr>
        <p:spPr>
          <a:xfrm>
            <a:off x="4370832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18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alívio 4"/>
          <p:cNvSpPr txBox="1"/>
          <p:nvPr/>
        </p:nvSpPr>
        <p:spPr>
          <a:xfrm>
            <a:off x="4846320" y="34838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Fala, não digita. Feita para quem tem 70 anos ou mais.</a:t>
            </a:r>
            <a:endParaRPr lang="en-US" sz="1250" dirty="0"/>
          </a:p>
        </p:txBody>
      </p:sp>
      <p:sp>
        <p:nvSpPr>
          <p:cNvPr id="25" name="par 5"/>
          <p:cNvSpPr/>
          <p:nvPr/>
        </p:nvSpPr>
        <p:spPr>
          <a:xfrm>
            <a:off x="548640" y="4096512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6" name="dor 5"/>
          <p:cNvSpPr txBox="1"/>
          <p:nvPr/>
        </p:nvSpPr>
        <p:spPr>
          <a:xfrm>
            <a:off x="731520" y="40965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A ligação de domingo que termina em “está tudo bem”. A culpa, a dúvida.</a:t>
            </a:r>
            <a:endParaRPr lang="en-US" sz="1150" dirty="0"/>
          </a:p>
        </p:txBody>
      </p:sp>
      <p:sp>
        <p:nvSpPr>
          <p:cNvPr id="27" name="ponto 13"/>
          <p:cNvSpPr/>
          <p:nvPr/>
        </p:nvSpPr>
        <p:spPr>
          <a:xfrm>
            <a:off x="4370832" y="4242816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28" name="seta 5"/>
          <p:cNvSpPr txBox="1"/>
          <p:nvPr/>
        </p:nvSpPr>
        <p:spPr>
          <a:xfrm>
            <a:off x="4370832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18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alívio 5"/>
          <p:cNvSpPr txBox="1"/>
          <p:nvPr/>
        </p:nvSpPr>
        <p:spPr>
          <a:xfrm>
            <a:off x="4846320" y="40965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 quando a rotina muda e lembra nomes, remédios e o papo de ontem.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A1B18"/>
                </a:solidFill>
              </a:rPr>
              <a:t>Quero ter com quem conversar todo dia, sem precisar pedir.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6B59"/>
                </a:solidFill>
              </a:rPr>
              <a:t>QUEM MORA SÓ · O TRABALHO QUE A CORA FAZ</a:t>
            </a:r>
            <a:endParaRPr lang="en-US" sz="1100" dirty="0"/>
          </a:p>
        </p:txBody>
      </p:sp>
      <p:sp>
        <p:nvSpPr>
          <p:cNvPr id="4" name="jtbd família"/>
          <p:cNvSpPr/>
          <p:nvPr/>
        </p:nvSpPr>
        <p:spPr>
          <a:xfrm>
            <a:off x="4206240" y="4069080"/>
            <a:ext cx="43891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jtbd família texto"/>
          <p:cNvSpPr txBox="1"/>
          <p:nvPr/>
        </p:nvSpPr>
        <p:spPr>
          <a:xfrm>
            <a:off x="434340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1B18"/>
                </a:solidFill>
              </a:rPr>
              <a:t>“Quero saber que minha mãe está bem, sem transformar cada ligação num interrogatório.” </a:t>
            </a:r>
            <a:pPr indent="0" marL="0">
              <a:buNone/>
            </a:pPr>
            <a:r>
              <a:rPr lang="en-US" sz="900" b="1" dirty="0">
                <a:solidFill>
                  <a:srgbClr val="A39590"/>
                </a:solidFill>
              </a:rPr>
              <a:t>Quem paga · a filha ou o filho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Uma ponte de volta para o mundo real</a:t>
            </a:r>
            <a:endParaRPr lang="en-US" sz="3000" dirty="0"/>
          </a:p>
        </p:txBody>
      </p:sp>
      <p:sp>
        <p:nvSpPr>
          <p:cNvPr id="3" name="tile LIGAÇÃO COM ASSUNTO PRONTO"/>
          <p:cNvSpPr/>
          <p:nvPr/>
        </p:nvSpPr>
        <p:spPr>
          <a:xfrm>
            <a:off x="548640" y="1417320"/>
            <a:ext cx="5212080" cy="1463040"/>
          </a:xfrm>
          <a:prstGeom prst="roundRect">
            <a:avLst>
              <a:gd name="adj" fmla="val 10000"/>
            </a:avLst>
          </a:prstGeom>
          <a:solidFill>
            <a:srgbClr val="FDE3D6"/>
          </a:solidFill>
          <a:ln w="9525">
            <a:solidFill>
              <a:srgbClr val="FDE3D6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4" name="tile texto LIGAÇÃO COM ASSUNTO PRONTO"/>
          <p:cNvSpPr txBox="1"/>
          <p:nvPr/>
        </p:nvSpPr>
        <p:spPr>
          <a:xfrm>
            <a:off x="749808" y="1554480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LIGAÇÃO COM ASSUNTO PRONTO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“Hoje é aniversário do Pedro. Quer ligar para a Marta e dar os parabéns?”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B5A55"/>
                </a:solidFill>
              </a:rPr>
              <a:t>Puxa a ligação para a filha com um gancho real. A conversa flui, em vez de terminar em “está tudo bem”.</a:t>
            </a:r>
            <a:endParaRPr lang="en-US" sz="800" dirty="0"/>
          </a:p>
        </p:txBody>
      </p:sp>
      <p:sp>
        <p:nvSpPr>
          <p:cNvPr id="5" name="tile VIDA DO BAIRRO"/>
          <p:cNvSpPr/>
          <p:nvPr/>
        </p:nvSpPr>
        <p:spPr>
          <a:xfrm>
            <a:off x="5943600" y="141732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6" name="tile texto VIDA DO BAIRRO"/>
          <p:cNvSpPr txBox="1"/>
          <p:nvPr/>
        </p:nvSpPr>
        <p:spPr>
          <a:xfrm>
            <a:off x="6144768" y="155448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VIDA DO BAIRRO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 da missa, do grupo, da feira.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B5A55"/>
                </a:solidFill>
              </a:rPr>
              <a:t>Compromissos que tiram de casa e devolvem ao convívio.</a:t>
            </a:r>
            <a:endParaRPr lang="en-US" sz="800" dirty="0"/>
          </a:p>
        </p:txBody>
      </p:sp>
      <p:sp>
        <p:nvSpPr>
          <p:cNvPr id="7" name="tile SER OUVIDO"/>
          <p:cNvSpPr/>
          <p:nvPr/>
        </p:nvSpPr>
        <p:spPr>
          <a:xfrm>
            <a:off x="548640" y="3017520"/>
            <a:ext cx="25146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tile texto SER OUVIDO"/>
          <p:cNvSpPr txBox="1"/>
          <p:nvPr/>
        </p:nvSpPr>
        <p:spPr>
          <a:xfrm>
            <a:off x="749808" y="315468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SER OUVIDO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Alguém que ouve quando a senhora precisa.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B5A55"/>
                </a:solidFill>
              </a:rPr>
              <a:t>Não quando dá tempo, não quando alguém lembra.</a:t>
            </a:r>
            <a:endParaRPr lang="en-US" sz="800" dirty="0"/>
          </a:p>
        </p:txBody>
      </p:sp>
      <p:sp>
        <p:nvSpPr>
          <p:cNvPr id="9" name="tile PERTENCER"/>
          <p:cNvSpPr/>
          <p:nvPr/>
        </p:nvSpPr>
        <p:spPr>
          <a:xfrm>
            <a:off x="3246120" y="3017520"/>
            <a:ext cx="2514600" cy="1463040"/>
          </a:xfrm>
          <a:prstGeom prst="roundRect">
            <a:avLst>
              <a:gd name="adj" fmla="val 10000"/>
            </a:avLst>
          </a:prstGeom>
          <a:solidFill>
            <a:srgbClr val="EEF1EA"/>
          </a:solidFill>
          <a:ln w="9525">
            <a:solidFill>
              <a:srgbClr val="EEF1EA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0" name="tile texto PERTENCER"/>
          <p:cNvSpPr txBox="1"/>
          <p:nvPr/>
        </p:nvSpPr>
        <p:spPr>
          <a:xfrm>
            <a:off x="3447288" y="315468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PERTENCER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da família, não um encargo.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B5A55"/>
                </a:solidFill>
              </a:rPr>
              <a:t>Chegar na ligação com novidades, e não só com perguntas.</a:t>
            </a:r>
            <a:endParaRPr lang="en-US" sz="800" dirty="0"/>
          </a:p>
        </p:txBody>
      </p:sp>
      <p:sp>
        <p:nvSpPr>
          <p:cNvPr id="11" name="tile CUIDADO A TEMPO"/>
          <p:cNvSpPr/>
          <p:nvPr/>
        </p:nvSpPr>
        <p:spPr>
          <a:xfrm>
            <a:off x="5943600" y="301752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DE3D6"/>
          </a:solidFill>
          <a:ln w="9525">
            <a:solidFill>
              <a:srgbClr val="FDE3D6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2" name="tile texto CUIDADO A TEMPO"/>
          <p:cNvSpPr txBox="1"/>
          <p:nvPr/>
        </p:nvSpPr>
        <p:spPr>
          <a:xfrm>
            <a:off x="6144768" y="315468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CUIDADO A TEMPO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sinal de risco, encaminha a um profissional.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B5A55"/>
                </a:solidFill>
              </a:rPr>
              <a:t>E avisa a família antes de o problema virar problema.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Saber que ela está bem, sem interrogatório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Toda segunda, um resumo chega no WhatsApp dos filhos sem ninguém pedir. Quando a rotina sai do padrão, a Cora avisa na hora.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55"/>
                </a:solidFill>
              </a:rPr>
              <a:t>Resumo semanal com o que importa, em linguagem de família.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55"/>
                </a:solidFill>
              </a:rPr>
              <a:t>Aviso quando a rotina muda: conversas não atendidas, humor diferente, remédio esquecido.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55"/>
                </a:solidFill>
              </a:rPr>
              <a:t>Encaminhamento a um profissional em sinal de risco.</a:t>
            </a:r>
            <a:endParaRPr lang="en-US" sz="1600" dirty="0"/>
          </a:p>
        </p:txBody>
      </p:sp>
      <p:sp>
        <p:nvSpPr>
          <p:cNvPr id="4" name="whatsapp"/>
          <p:cNvSpPr/>
          <p:nvPr/>
        </p:nvSpPr>
        <p:spPr>
          <a:xfrm>
            <a:off x="4754880" y="1463040"/>
            <a:ext cx="3840480" cy="3017520"/>
          </a:xfrm>
          <a:prstGeom prst="roundRect">
            <a:avLst>
              <a:gd name="adj" fmla="val 4848"/>
            </a:avLst>
          </a:prstGeom>
          <a:solidFill>
            <a:srgbClr val="F1E7DF"/>
          </a:solidFill>
          <a:ln w="9525">
            <a:solidFill>
              <a:srgbClr val="F1E7DF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wa meta"/>
          <p:cNvSpPr txBox="1"/>
          <p:nvPr/>
        </p:nvSpPr>
        <p:spPr>
          <a:xfrm>
            <a:off x="475488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5A55"/>
                </a:solidFill>
              </a:rPr>
              <a:t>SEGUNDA-FEIRA · RESUMO DA SEMANA DA DONA LÚCIA</a:t>
            </a:r>
            <a:endParaRPr lang="en-US" sz="800" dirty="0"/>
          </a:p>
        </p:txBody>
      </p:sp>
      <p:sp>
        <p:nvSpPr>
          <p:cNvPr id="6" name="wa balão"/>
          <p:cNvSpPr/>
          <p:nvPr/>
        </p:nvSpPr>
        <p:spPr>
          <a:xfrm>
            <a:off x="4937760" y="18745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wa texto"/>
          <p:cNvSpPr txBox="1"/>
          <p:nvPr/>
        </p:nvSpPr>
        <p:spPr>
          <a:xfrm>
            <a:off x="5074920" y="1938528"/>
            <a:ext cx="32004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C6B59"/>
                </a:solidFill>
              </a:rPr>
              <a:t>Cora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1B18"/>
                </a:solidFill>
              </a:rPr>
              <a:t>🗣️ Conversamos em 6 dos 7 dias, uns 14 minutos por vez. Ela estava animada na quinta: falou do Pedro o tempo todo.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1B18"/>
                </a:solidFill>
              </a:rPr>
              <a:t>📞 Ligou 3 vezes para a família. Na semana passada tinha sido uma.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1B18"/>
                </a:solidFill>
              </a:rPr>
              <a:t>🧺 Foi à feira no sábado com a vizinha, como tinha combinado.</a:t>
            </a:r>
            <a:endParaRPr lang="en-US" sz="9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A1B18"/>
                </a:solidFill>
              </a:rPr>
              <a:t>💊 Esqueceu o remédio da pressão na terça. Reforcei o lembrete das seis.</a:t>
            </a:r>
            <a:endParaRPr lang="en-US" sz="900" dirty="0"/>
          </a:p>
        </p:txBody>
      </p:sp>
      <p:sp>
        <p:nvSpPr>
          <p:cNvPr id="8" name="wa resposta"/>
          <p:cNvSpPr/>
          <p:nvPr/>
        </p:nvSpPr>
        <p:spPr>
          <a:xfrm>
            <a:off x="6035040" y="4041648"/>
            <a:ext cx="2377440" cy="329184"/>
          </a:xfrm>
          <a:prstGeom prst="roundRect">
            <a:avLst>
              <a:gd name="adj" fmla="val 33333"/>
            </a:avLst>
          </a:prstGeom>
          <a:solidFill>
            <a:srgbClr val="DDF5E4"/>
          </a:solidFill>
          <a:ln w="12700">
            <a:solidFill>
              <a:srgbClr val="DDF5E4"/>
            </a:solidFill>
            <a:prstDash val="solid"/>
          </a:ln>
        </p:spPr>
      </p:sp>
      <p:sp>
        <p:nvSpPr>
          <p:cNvPr id="9" name="wa resposta texto"/>
          <p:cNvSpPr txBox="1"/>
          <p:nvPr/>
        </p:nvSpPr>
        <p:spPr>
          <a:xfrm>
            <a:off x="6126480" y="4041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B18"/>
                </a:solidFill>
              </a:rPr>
              <a:t>Obrigada! Vou ligar pra ela hoje à noite 💛</a:t>
            </a:r>
            <a:endParaRPr lang="en-US" sz="10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A1B18"/>
                </a:solidFill>
              </a:rPr>
              <a:t>Uma assinatura para a família toda</a:t>
            </a:r>
            <a:endParaRPr lang="en-US" sz="3000" dirty="0"/>
          </a:p>
        </p:txBody>
      </p:sp>
      <p:sp>
        <p:nvSpPr>
          <p:cNvPr id="3" name="subtítulo planos"/>
          <p:cNvSpPr txBox="1"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5"/>
                </a:solidFill>
              </a:rPr>
              <a:t>Quem decide e paga é o filho. Quem usa é a mãe, no tablet que já tem em casa.</a:t>
            </a:r>
            <a:endParaRPr lang="en-US" sz="1400" dirty="0"/>
          </a:p>
        </p:txBody>
      </p:sp>
      <p:sp>
        <p:nvSpPr>
          <p:cNvPr id="4" name="painel planos"/>
          <p:cNvSpPr/>
          <p:nvPr/>
        </p:nvSpPr>
        <p:spPr>
          <a:xfrm>
            <a:off x="548640" y="1828800"/>
            <a:ext cx="804672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plano nome"/>
          <p:cNvSpPr txBox="1"/>
          <p:nvPr/>
        </p:nvSpPr>
        <p:spPr>
          <a:xfrm>
            <a:off x="86868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familiar</a:t>
            </a:r>
            <a:endParaRPr lang="en-US" sz="2000" dirty="0"/>
          </a:p>
        </p:txBody>
      </p:sp>
      <p:sp>
        <p:nvSpPr>
          <p:cNvPr id="6" name="plano preço"/>
          <p:cNvSpPr txBox="1"/>
          <p:nvPr/>
        </p:nvSpPr>
        <p:spPr>
          <a:xfrm>
            <a:off x="86868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mês grátis</a:t>
            </a:r>
            <a:endParaRPr lang="en-US" sz="3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B5A55"/>
                </a:solidFill>
              </a:rPr>
              <a:t>depois, mensalidade familiar</a:t>
            </a:r>
            <a:endParaRPr lang="en-US" sz="3000" dirty="0"/>
          </a:p>
        </p:txBody>
      </p:sp>
      <p:sp>
        <p:nvSpPr>
          <p:cNvPr id="7" name="plano nota"/>
          <p:cNvSpPr txBox="1"/>
          <p:nvPr/>
        </p:nvSpPr>
        <p:spPr>
          <a:xfrm>
            <a:off x="86868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9590"/>
                </a:solidFill>
              </a:rPr>
              <a:t>Pela tranquilidade que hoje só uma acompanhante entrega, por uma fração do custo de poucas horas dela por semana.</a:t>
            </a:r>
            <a:endParaRPr lang="en-US" sz="1100" dirty="0"/>
          </a:p>
        </p:txBody>
      </p:sp>
      <p:sp>
        <p:nvSpPr>
          <p:cNvPr id="8" name="ponto 14"/>
          <p:cNvSpPr/>
          <p:nvPr/>
        </p:nvSpPr>
        <p:spPr>
          <a:xfrm>
            <a:off x="4572000" y="2139696"/>
            <a:ext cx="182880" cy="182880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9" name="check"/>
          <p:cNvSpPr txBox="1"/>
          <p:nvPr/>
        </p:nvSpPr>
        <p:spPr>
          <a:xfrm>
            <a:off x="4572000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1B18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item"/>
          <p:cNvSpPr txBox="1"/>
          <p:nvPr/>
        </p:nvSpPr>
        <p:spPr>
          <a:xfrm>
            <a:off x="4864608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18"/>
                </a:solidFill>
              </a:rPr>
              <a:t>Conversas diárias por vídeo ou voz, sem limite de tempo</a:t>
            </a:r>
            <a:endParaRPr lang="en-US" sz="1300" dirty="0"/>
          </a:p>
        </p:txBody>
      </p:sp>
      <p:sp>
        <p:nvSpPr>
          <p:cNvPr id="11" name="ponto 15"/>
          <p:cNvSpPr/>
          <p:nvPr/>
        </p:nvSpPr>
        <p:spPr>
          <a:xfrm>
            <a:off x="4572000" y="2569464"/>
            <a:ext cx="182880" cy="182880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4572000" y="2569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1B18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item"/>
          <p:cNvSpPr txBox="1"/>
          <p:nvPr/>
        </p:nvSpPr>
        <p:spPr>
          <a:xfrm>
            <a:off x="4864608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18"/>
                </a:solidFill>
              </a:rPr>
              <a:t>Companheira com nome, rosto e voz escolhidos junto com ela</a:t>
            </a:r>
            <a:endParaRPr lang="en-US" sz="1300" dirty="0"/>
          </a:p>
        </p:txBody>
      </p:sp>
      <p:sp>
        <p:nvSpPr>
          <p:cNvPr id="14" name="ponto 16"/>
          <p:cNvSpPr/>
          <p:nvPr/>
        </p:nvSpPr>
        <p:spPr>
          <a:xfrm>
            <a:off x="4572000" y="2999232"/>
            <a:ext cx="182880" cy="182880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15" name="check"/>
          <p:cNvSpPr txBox="1"/>
          <p:nvPr/>
        </p:nvSpPr>
        <p:spPr>
          <a:xfrm>
            <a:off x="4572000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1B18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item"/>
          <p:cNvSpPr txBox="1"/>
          <p:nvPr/>
        </p:nvSpPr>
        <p:spPr>
          <a:xfrm>
            <a:off x="4864608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18"/>
                </a:solidFill>
              </a:rPr>
              <a:t>Modo Família com resumo semanal e avisos</a:t>
            </a:r>
            <a:endParaRPr lang="en-US" sz="1300" dirty="0"/>
          </a:p>
        </p:txBody>
      </p:sp>
      <p:sp>
        <p:nvSpPr>
          <p:cNvPr id="17" name="ponto 17"/>
          <p:cNvSpPr/>
          <p:nvPr/>
        </p:nvSpPr>
        <p:spPr>
          <a:xfrm>
            <a:off x="4572000" y="3429000"/>
            <a:ext cx="182880" cy="182880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18" name="check"/>
          <p:cNvSpPr txBox="1"/>
          <p:nvPr/>
        </p:nvSpPr>
        <p:spPr>
          <a:xfrm>
            <a:off x="4572000" y="3429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1B18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item"/>
          <p:cNvSpPr txBox="1"/>
          <p:nvPr/>
        </p:nvSpPr>
        <p:spPr>
          <a:xfrm>
            <a:off x="4864608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18"/>
                </a:solidFill>
              </a:rPr>
              <a:t>Instalação assistida no tablet, numa visita de fim de semana</a:t>
            </a:r>
            <a:endParaRPr lang="en-US" sz="1300" dirty="0"/>
          </a:p>
        </p:txBody>
      </p:sp>
      <p:sp>
        <p:nvSpPr>
          <p:cNvPr id="20" name="ponto 18"/>
          <p:cNvSpPr/>
          <p:nvPr/>
        </p:nvSpPr>
        <p:spPr>
          <a:xfrm>
            <a:off x="4572000" y="3858768"/>
            <a:ext cx="182880" cy="182880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21" name="check"/>
          <p:cNvSpPr txBox="1"/>
          <p:nvPr/>
        </p:nvSpPr>
        <p:spPr>
          <a:xfrm>
            <a:off x="457200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1B18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item"/>
          <p:cNvSpPr txBox="1"/>
          <p:nvPr/>
        </p:nvSpPr>
        <p:spPr>
          <a:xfrm>
            <a:off x="4864608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B18"/>
                </a:solidFill>
              </a:rPr>
              <a:t>Cancele quando quiser, pelo site ou pelo WhatsApp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6F1"/>
                </a:solidFill>
              </a:rPr>
              <a:t>Companhia de verdade, sem fingir ser gente</a:t>
            </a:r>
            <a:endParaRPr lang="en-US" sz="3000" dirty="0"/>
          </a:p>
        </p:txBody>
      </p:sp>
      <p:sp>
        <p:nvSpPr>
          <p:cNvPr id="3" name="não 1"/>
          <p:cNvSpPr txBox="1"/>
          <p:nvPr/>
        </p:nvSpPr>
        <p:spPr>
          <a:xfrm>
            <a:off x="5486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8"/>
                </a:solidFill>
              </a:rPr>
              <a:t>NÃO</a:t>
            </a:r>
            <a:endParaRPr lang="en-US" sz="2400" dirty="0"/>
          </a:p>
        </p:txBody>
      </p:sp>
      <p:sp>
        <p:nvSpPr>
          <p:cNvPr id="4" name="não texto 1"/>
          <p:cNvSpPr txBox="1"/>
          <p:nvPr/>
        </p:nvSpPr>
        <p:spPr>
          <a:xfrm>
            <a:off x="1645920" y="146304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 ser humana.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FFE3DA"/>
                </a:solidFill>
              </a:rPr>
              <a:t>Sua mãe e você sempre sabem que é uma companheira virtual.</a:t>
            </a:r>
            <a:endParaRPr lang="en-US" sz="2000" dirty="0"/>
          </a:p>
        </p:txBody>
      </p:sp>
      <p:sp>
        <p:nvSpPr>
          <p:cNvPr id="5" name="não 2"/>
          <p:cNvSpPr txBox="1"/>
          <p:nvPr/>
        </p:nvSpPr>
        <p:spPr>
          <a:xfrm>
            <a:off x="548640" y="22311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8"/>
                </a:solidFill>
              </a:rPr>
              <a:t>NÃO</a:t>
            </a:r>
            <a:endParaRPr lang="en-US" sz="2400" dirty="0"/>
          </a:p>
        </p:txBody>
      </p:sp>
      <p:sp>
        <p:nvSpPr>
          <p:cNvPr id="6" name="não texto 2"/>
          <p:cNvSpPr txBox="1"/>
          <p:nvPr/>
        </p:nvSpPr>
        <p:spPr>
          <a:xfrm>
            <a:off x="1645920" y="223113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maximiza tempo de tela.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FFE3DA"/>
                </a:solidFill>
              </a:rPr>
              <a:t>A métrica que importa é quantas vezes ela ligou para a família nesta semana.</a:t>
            </a:r>
            <a:endParaRPr lang="en-US" sz="2000" dirty="0"/>
          </a:p>
        </p:txBody>
      </p:sp>
      <p:sp>
        <p:nvSpPr>
          <p:cNvPr id="7" name="não 3"/>
          <p:cNvSpPr txBox="1"/>
          <p:nvPr/>
        </p:nvSpPr>
        <p:spPr>
          <a:xfrm>
            <a:off x="548640" y="2999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8"/>
                </a:solidFill>
              </a:rPr>
              <a:t>NÃO</a:t>
            </a:r>
            <a:endParaRPr lang="en-US" sz="2400" dirty="0"/>
          </a:p>
        </p:txBody>
      </p:sp>
      <p:sp>
        <p:nvSpPr>
          <p:cNvPr id="8" name="não texto 3"/>
          <p:cNvSpPr txBox="1"/>
          <p:nvPr/>
        </p:nvSpPr>
        <p:spPr>
          <a:xfrm>
            <a:off x="1645920" y="299923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substitui a família.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FFE3DA"/>
                </a:solidFill>
              </a:rPr>
              <a:t>Devolve sua mãe ao convívio, com assunto pronto e vontade de ligar.</a:t>
            </a:r>
            <a:endParaRPr lang="en-US" sz="2000" dirty="0"/>
          </a:p>
        </p:txBody>
      </p:sp>
      <p:sp>
        <p:nvSpPr>
          <p:cNvPr id="9" name="não 4"/>
          <p:cNvSpPr txBox="1"/>
          <p:nvPr/>
        </p:nvSpPr>
        <p:spPr>
          <a:xfrm>
            <a:off x="548640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8"/>
                </a:solidFill>
              </a:rPr>
              <a:t>NÃO</a:t>
            </a:r>
            <a:endParaRPr lang="en-US" sz="2400" dirty="0"/>
          </a:p>
        </p:txBody>
      </p:sp>
      <p:sp>
        <p:nvSpPr>
          <p:cNvPr id="10" name="não texto 4"/>
          <p:cNvSpPr txBox="1"/>
          <p:nvPr/>
        </p:nvSpPr>
        <p:spPr>
          <a:xfrm>
            <a:off x="1645920" y="376732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segredo em sinal de risco.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FFE3DA"/>
                </a:solidFill>
              </a:rPr>
              <a:t>Encaminha a um profissional e avisa quem precisa saber.</a:t>
            </a:r>
            <a:endParaRPr lang="en-US" sz="2000" dirty="0"/>
          </a:p>
        </p:txBody>
      </p:sp>
      <p:sp>
        <p:nvSpPr>
          <p:cNvPr id="11" name="Text 1"/>
          <p:cNvSpPr/>
          <p:nvPr>
            <p:ph idx="103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D9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9202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BF6F1"/>
                </a:solidFill>
              </a:rPr>
              <a:t>Alguém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B846D"/>
                </a:solidFill>
              </a:rPr>
              <a:t>para ouvir.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8B0"/>
                </a:solidFill>
              </a:rPr>
              <a:t>Comece o primeiro mês grátis. A gente instala no tablet dela e, no fim de tarde seguinte, a Cora liga.</a:t>
            </a:r>
            <a:endParaRPr lang="en-US" sz="1400" dirty="0"/>
          </a:p>
        </p:txBody>
      </p:sp>
      <p:sp>
        <p:nvSpPr>
          <p:cNvPr id="4" name="pílula Conheça a Cora"/>
          <p:cNvSpPr/>
          <p:nvPr/>
        </p:nvSpPr>
        <p:spPr>
          <a:xfrm>
            <a:off x="548640" y="406908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B846D"/>
          </a:solidFill>
          <a:ln w="12700">
            <a:solidFill>
              <a:srgbClr val="FB846D"/>
            </a:solidFill>
            <a:prstDash val="solid"/>
          </a:ln>
        </p:spPr>
      </p:sp>
      <p:sp>
        <p:nvSpPr>
          <p:cNvPr id="5" name="pílula texto Conheça a Cora"/>
          <p:cNvSpPr txBox="1"/>
          <p:nvPr/>
        </p:nvSpPr>
        <p:spPr>
          <a:xfrm>
            <a:off x="548640" y="4069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B18"/>
                </a:solidFill>
              </a:rPr>
              <a:t>Conheça a Cora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">
  <a:themeElements>
    <a:clrScheme name="Cora">
      <a:dk1>
        <a:srgbClr val="2A1B18"/>
      </a:dk1>
      <a:lt1>
        <a:srgbClr val="FFFFFF"/>
      </a:lt1>
      <a:dk2>
        <a:srgbClr val="6B5A55"/>
      </a:dk2>
      <a:lt2>
        <a:srgbClr val="FBF6F1"/>
      </a:lt2>
      <a:accent1>
        <a:srgbClr val="FC6B59"/>
      </a:accent1>
      <a:accent2>
        <a:srgbClr val="FB846D"/>
      </a:accent2>
      <a:accent3>
        <a:srgbClr val="FDB9A1"/>
      </a:accent3>
      <a:accent4>
        <a:srgbClr val="FDE3D6"/>
      </a:accent4>
      <a:accent5>
        <a:srgbClr val="8A9A7B"/>
      </a:accent5>
      <a:accent6>
        <a:srgbClr val="2A1B18"/>
      </a:accent6>
      <a:hlink>
        <a:srgbClr val="FC6B59"/>
      </a:hlink>
      <a:folHlink>
        <a:srgbClr val="FB846D"/>
      </a:folHlink>
    </a:clrScheme>
    <a:fontScheme name="Co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 · template de apresentação</dc:title>
  <dc:subject>Alguém para ouvir</dc:subject>
  <dc:creator>Projeto acadêmico ESPM</dc:creator>
  <cp:lastModifiedBy>Projeto acadêmico ESPM</cp:lastModifiedBy>
  <cp:revision>1</cp:revision>
  <dcterms:created xsi:type="dcterms:W3CDTF">2026-10-10T18:51:06Z</dcterms:created>
  <dcterms:modified xsi:type="dcterms:W3CDTF">2026-10-10T18:51:06Z</dcterms:modified>
</cp:coreProperties>
</file>