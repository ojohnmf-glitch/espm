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· páginas em branco" id="{5c946a6a-5668-2ae0-5a35-137f768b210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onteúdo da landing page" id="{7b2ca246-89a5-57ba-38ff-4b67f19d9c8f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Troque o título e o subtítulo. O logo e o fundo vêm do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orientação. Apague antes de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DIVISORIA.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CONTEUDO.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TITULO.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DUAS_COLUNAS.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IMAGEM.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CITACAO.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ESCURO.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em branco no layout FECHAMENTO. Clique nos espaços reservados para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de abertura da landing: promessa principal e key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usados na landing. Confira as fontes antes da banca: IBGE, ELSI-Brasil 2023 e 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1.png"/><Relationship Id="rId3" Type="http://schemas.openxmlformats.org/officeDocument/2006/relationships/image" Target="../media/CAPA-image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DIVISORIA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ONTEUDO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TITULO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DUAS_COLUNAS-image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M-image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CITACAO-image-2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image-1010-1.png"/><Relationship Id="rId3" Type="http://schemas.openxmlformats.org/officeDocument/2006/relationships/image" Target="../media/FECHAMENTO-image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spm/4ada8e6d-90e3-5cae-a464-bc23024773ff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926080" cy="107899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148840"/>
            <a:ext cx="73152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dirty="0">
                <a:solidFill>
                  <a:srgbClr val="FBF8F4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600" dirty="0">
                <a:solidFill>
                  <a:srgbClr val="FBF8F4"/>
                </a:solidFill>
              </a:rPr>
              <a:t>Título da apresentação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3337560"/>
            <a:ext cx="64008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rgbClr val="D8CFE3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rgbClr val="D8CFE3"/>
                </a:solidFill>
              </a:rPr>
              <a:t>Subtítulo · equipe · data</a:t>
            </a:r>
            <a:endParaRPr lang="en-US" sz="1600" dirty="0"/>
          </a:p>
        </p:txBody>
      </p:sp>
      <p:pic>
        <p:nvPicPr>
          <p:cNvPr id="5" name="Image 1" descr="/tmp/claude-0/-home-user-espm/4ada8e6d-90e3-5cae-a464-bc23024773ff/scratchpad/dec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00016"/>
            <a:ext cx="731520" cy="26974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463040" y="4681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AFC6"/>
                </a:solidFill>
              </a:rPr>
              <a:t>Projeto acadêmico ESPM · Gestão de Produtos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rgbClr val="FFC59E"/>
                </a:solidFill>
              </a:defRPr>
            </a:lvl1pPr>
          </a:lstStyle>
          <a:p>
            <a:pPr indent="0" marL="0">
              <a:buNone/>
            </a:pPr>
            <a:r>
              <a:rPr lang="en-US" sz="6000" b="1" dirty="0">
                <a:solidFill>
                  <a:srgbClr val="FFC59E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rgbClr val="FBF8F4"/>
                </a:solidFill>
              </a:defRPr>
            </a:lvl1pPr>
          </a:lstStyle>
          <a:p>
            <a:pPr indent="0" marL="0">
              <a:buNone/>
            </a:pPr>
            <a:r>
              <a:rPr lang="en-US" sz="3600" dirty="0">
                <a:solidFill>
                  <a:srgbClr val="FBF8F4"/>
                </a:solidFill>
              </a:rPr>
              <a:t>Nome da seção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00400"/>
            <a:ext cx="6858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D8CFE3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D8CFE3"/>
                </a:solidFill>
              </a:rPr>
              <a:t>Uma frase sobre o que esta seção responde.</a:t>
            </a:r>
            <a:endParaRPr lang="en-US" sz="1600" dirty="0"/>
          </a:p>
        </p:txBody>
      </p:sp>
      <p:pic>
        <p:nvPicPr>
          <p:cNvPr id="5" name="Image 0" descr="/tmp/claude-0/-home-user-espm/4ada8e6d-90e3-5cae-a464-bc23024773ff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00016"/>
            <a:ext cx="731520" cy="26974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463040" y="4681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AFC6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F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231A2E"/>
                </a:solidFill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231A2E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rgbClr val="655A70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55A70"/>
                </a:solidFill>
              </a:rPr>
              <a:t>Clique para adicionar texto</a:t>
            </a:r>
            <a:endParaRPr lang="en-US" sz="1600" dirty="0"/>
          </a:p>
        </p:txBody>
      </p:sp>
      <p:sp>
        <p:nvSpPr>
          <p:cNvPr id="4" name="Shape 0"/>
          <p:cNvSpPr/>
          <p:nvPr/>
        </p:nvSpPr>
        <p:spPr>
          <a:xfrm>
            <a:off x="548640" y="4681728"/>
            <a:ext cx="841248" cy="310896"/>
          </a:xfrm>
          <a:prstGeom prst="rect">
            <a:avLst/>
          </a:prstGeom>
          <a:solidFill>
            <a:srgbClr val="231A2E"/>
          </a:solidFill>
          <a:ln/>
        </p:spPr>
      </p:sp>
      <p:pic>
        <p:nvPicPr>
          <p:cNvPr id="5" name="Image 0" descr="/tmp/claude-0/-home-user-espm/4ada8e6d-90e3-5cae-a464-bc23024773ff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727448"/>
            <a:ext cx="658368" cy="24231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554480" y="4681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1A4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231A2E"/>
                </a:solidFill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231A2E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Shape 0"/>
          <p:cNvSpPr/>
          <p:nvPr/>
        </p:nvSpPr>
        <p:spPr>
          <a:xfrm>
            <a:off x="548640" y="4681728"/>
            <a:ext cx="841248" cy="310896"/>
          </a:xfrm>
          <a:prstGeom prst="rect">
            <a:avLst/>
          </a:prstGeom>
          <a:solidFill>
            <a:srgbClr val="231A2E"/>
          </a:solidFill>
          <a:ln/>
        </p:spPr>
      </p:sp>
      <p:pic>
        <p:nvPicPr>
          <p:cNvPr id="4" name="Image 0" descr="/tmp/claude-0/-home-user-espm/4ada8e6d-90e3-5cae-a464-bc23024773ff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727448"/>
            <a:ext cx="658368" cy="2423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54480" y="4681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1A4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_COLUN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231A2E"/>
                </a:solidFill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231A2E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384048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rgbClr val="655A70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55A70"/>
                </a:solidFill>
              </a:rPr>
              <a:t>Coluna da esquerda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754880" y="1463040"/>
            <a:ext cx="384048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rgbClr val="655A70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55A70"/>
                </a:solidFill>
              </a:rPr>
              <a:t>Coluna da direita (texto ou imagem)</a:t>
            </a:r>
            <a:endParaRPr lang="en-US" sz="1600" dirty="0"/>
          </a:p>
        </p:txBody>
      </p:sp>
      <p:sp>
        <p:nvSpPr>
          <p:cNvPr id="5" name="Shape 0"/>
          <p:cNvSpPr/>
          <p:nvPr/>
        </p:nvSpPr>
        <p:spPr>
          <a:xfrm>
            <a:off x="548640" y="4681728"/>
            <a:ext cx="841248" cy="310896"/>
          </a:xfrm>
          <a:prstGeom prst="rect">
            <a:avLst/>
          </a:prstGeom>
          <a:solidFill>
            <a:srgbClr val="231A2E"/>
          </a:solidFill>
          <a:ln/>
        </p:spPr>
      </p:sp>
      <p:pic>
        <p:nvPicPr>
          <p:cNvPr id="6" name="Image 0" descr="/tmp/claude-0/-home-user-espm/4ada8e6d-90e3-5cae-a464-bc23024773ff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727448"/>
            <a:ext cx="658368" cy="242316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554480" y="4681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1A4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231A2E"/>
                </a:solidFill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231A2E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548640" y="1417320"/>
            <a:ext cx="804672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655A70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655A70"/>
                </a:solidFill>
              </a:rPr>
              <a:t>Clique para adicionar uma imagem</a:t>
            </a: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9A91A4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9A91A4"/>
                </a:solidFill>
              </a:rPr>
              <a:t>Legenda da imagem</a:t>
            </a:r>
            <a:endParaRPr lang="en-US" sz="1100" dirty="0"/>
          </a:p>
        </p:txBody>
      </p:sp>
      <p:sp>
        <p:nvSpPr>
          <p:cNvPr id="5" name="Shape 0"/>
          <p:cNvSpPr/>
          <p:nvPr/>
        </p:nvSpPr>
        <p:spPr>
          <a:xfrm>
            <a:off x="548640" y="4681728"/>
            <a:ext cx="841248" cy="310896"/>
          </a:xfrm>
          <a:prstGeom prst="rect">
            <a:avLst/>
          </a:prstGeom>
          <a:solidFill>
            <a:srgbClr val="231A2E"/>
          </a:solidFill>
          <a:ln/>
        </p:spPr>
      </p:sp>
      <p:pic>
        <p:nvPicPr>
          <p:cNvPr id="6" name="Image 0" descr="/tmp/claude-0/-home-user-espm/4ada8e6d-90e3-5cae-a464-bc23024773ff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727448"/>
            <a:ext cx="658368" cy="242316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554480" y="4681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1A4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A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6A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17320"/>
            <a:ext cx="80467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i="1" dirty="0">
                <a:solidFill>
                  <a:srgbClr val="231A2E"/>
                </a:solidFill>
              </a:defRPr>
            </a:lvl1pPr>
          </a:lstStyle>
          <a:p>
            <a:pPr indent="0" marL="0">
              <a:buNone/>
            </a:pPr>
            <a:r>
              <a:rPr lang="en-US" sz="3000" i="1" dirty="0">
                <a:solidFill>
                  <a:srgbClr val="231A2E"/>
                </a:solidFill>
              </a:rPr>
              <a:t>A frase que você quer que fique na cabeça de quem assiste.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9A91A4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9A91A4"/>
                </a:solidFill>
              </a:rPr>
              <a:t>QUEM DISSE · CONTEXTO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548640" y="4681728"/>
            <a:ext cx="841248" cy="310896"/>
          </a:xfrm>
          <a:prstGeom prst="rect">
            <a:avLst/>
          </a:prstGeom>
          <a:solidFill>
            <a:srgbClr val="231A2E"/>
          </a:solidFill>
          <a:ln/>
        </p:spPr>
      </p:sp>
      <p:pic>
        <p:nvPicPr>
          <p:cNvPr id="6" name="Image 0" descr="/tmp/claude-0/-home-user-espm/4ada8e6d-90e3-5cae-a464-bc23024773ff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727448"/>
            <a:ext cx="658368" cy="24231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54480" y="4681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1A4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4B3B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FBF8F4"/>
                </a:solidFill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FBF8F4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rgbClr val="E6DFF5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6DFF5"/>
                </a:solidFill>
              </a:rPr>
              <a:t>Clique para adicionar texto</a:t>
            </a:r>
            <a:endParaRPr lang="en-US" sz="1600" dirty="0"/>
          </a:p>
        </p:txBody>
      </p:sp>
      <p:pic>
        <p:nvPicPr>
          <p:cNvPr id="4" name="Image 0" descr="/tmp/claude-0/-home-user-espm/4ada8e6d-90e3-5cae-a464-bc23024773ff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00016"/>
            <a:ext cx="731520" cy="26974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463040" y="4681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AFC6"/>
                </a:solidFill>
              </a:rPr>
              <a:t>Projeto acadêmico ESPM · Gestão de Produtos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F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spm/4ada8e6d-90e3-5cae-a464-bc23024773ff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868680"/>
            <a:ext cx="2286000" cy="8412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1874520"/>
            <a:ext cx="7315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dirty="0">
                <a:solidFill>
                  <a:srgbClr val="FBF8F4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200" dirty="0">
                <a:solidFill>
                  <a:srgbClr val="FBF8F4"/>
                </a:solidFill>
              </a:rPr>
              <a:t>Frase de encerramento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3154680"/>
            <a:ext cx="6400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500" dirty="0">
                <a:solidFill>
                  <a:srgbClr val="D8CFE3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500" dirty="0">
                <a:solidFill>
                  <a:srgbClr val="D8CFE3"/>
                </a:solidFill>
              </a:rPr>
              <a:t>Agradecimento · contato · próximos passos</a:t>
            </a:r>
            <a:endParaRPr lang="en-US" sz="1500" dirty="0"/>
          </a:p>
        </p:txBody>
      </p:sp>
      <p:pic>
        <p:nvPicPr>
          <p:cNvPr id="5" name="Image 1" descr="/tmp/claude-0/-home-user-espm/4ada8e6d-90e3-5cae-a464-bc23024773ff/scratchpad/dec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00016"/>
            <a:ext cx="731520" cy="26974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463040" y="4681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AFC6"/>
                </a:solidFill>
              </a:rPr>
              <a:t>Projeto acadêmico ESPM · Gestão de Produtos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F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214884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BF8F4"/>
                </a:solidFill>
              </a:rPr>
              <a:t>Título da apresentação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371600" y="3337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CFE3"/>
                </a:solidFill>
              </a:rPr>
              <a:t>Subtítulo · equipe · data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31A2E"/>
                </a:solidFill>
              </a:rPr>
              <a:t>Como usar este template</a:t>
            </a:r>
            <a:endParaRPr lang="en-US" sz="3000" dirty="0"/>
          </a:p>
        </p:txBody>
      </p:sp>
      <p:sp>
        <p:nvSpPr>
          <p:cNvPr id="3" name="guia Capa"/>
          <p:cNvSpPr/>
          <p:nvPr/>
        </p:nvSpPr>
        <p:spPr>
          <a:xfrm>
            <a:off x="548640" y="1417320"/>
            <a:ext cx="388620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4" name="ponto 1"/>
          <p:cNvSpPr/>
          <p:nvPr/>
        </p:nvSpPr>
        <p:spPr>
          <a:xfrm>
            <a:off x="731520" y="1636776"/>
            <a:ext cx="219456" cy="219456"/>
          </a:xfrm>
          <a:prstGeom prst="ellipse">
            <a:avLst/>
          </a:prstGeom>
          <a:solidFill>
            <a:srgbClr val="FFC59E"/>
          </a:solidFill>
          <a:ln w="12700">
            <a:solidFill>
              <a:srgbClr val="FFC59E"/>
            </a:solidFill>
            <a:prstDash val="solid"/>
          </a:ln>
        </p:spPr>
      </p:sp>
      <p:sp>
        <p:nvSpPr>
          <p:cNvPr id="5" name="guia texto Capa"/>
          <p:cNvSpPr txBox="1"/>
          <p:nvPr/>
        </p:nvSpPr>
        <p:spPr>
          <a:xfrm>
            <a:off x="1097280" y="1490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A2E"/>
                </a:solidFill>
              </a:rPr>
              <a:t>Capa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55A70"/>
                </a:solidFill>
              </a:rPr>
              <a:t>Abertura escura com o logo. Uma por apresentação.</a:t>
            </a:r>
            <a:endParaRPr lang="en-US" sz="1300" dirty="0"/>
          </a:p>
        </p:txBody>
      </p:sp>
      <p:sp>
        <p:nvSpPr>
          <p:cNvPr id="6" name="guia Divisória"/>
          <p:cNvSpPr/>
          <p:nvPr/>
        </p:nvSpPr>
        <p:spPr>
          <a:xfrm>
            <a:off x="4709160" y="1417320"/>
            <a:ext cx="388620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7" name="ponto 2"/>
          <p:cNvSpPr/>
          <p:nvPr/>
        </p:nvSpPr>
        <p:spPr>
          <a:xfrm>
            <a:off x="4892040" y="1636776"/>
            <a:ext cx="219456" cy="219456"/>
          </a:xfrm>
          <a:prstGeom prst="ellipse">
            <a:avLst/>
          </a:prstGeom>
          <a:solidFill>
            <a:srgbClr val="F6AFD9"/>
          </a:solidFill>
          <a:ln w="12700">
            <a:solidFill>
              <a:srgbClr val="F6AFD9"/>
            </a:solidFill>
            <a:prstDash val="solid"/>
          </a:ln>
        </p:spPr>
      </p:sp>
      <p:sp>
        <p:nvSpPr>
          <p:cNvPr id="8" name="guia texto Divisória"/>
          <p:cNvSpPr txBox="1"/>
          <p:nvPr/>
        </p:nvSpPr>
        <p:spPr>
          <a:xfrm>
            <a:off x="5257800" y="1490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A2E"/>
                </a:solidFill>
              </a:rPr>
              <a:t>Divisória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55A70"/>
                </a:solidFill>
              </a:rPr>
              <a:t>Número grande + nome da seção. Abre cada bloco.</a:t>
            </a:r>
            <a:endParaRPr lang="en-US" sz="1300" dirty="0"/>
          </a:p>
        </p:txBody>
      </p:sp>
      <p:sp>
        <p:nvSpPr>
          <p:cNvPr id="9" name="guia Conteúdo"/>
          <p:cNvSpPr/>
          <p:nvPr/>
        </p:nvSpPr>
        <p:spPr>
          <a:xfrm>
            <a:off x="548640" y="2130552"/>
            <a:ext cx="388620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10" name="ponto 3"/>
          <p:cNvSpPr/>
          <p:nvPr/>
        </p:nvSpPr>
        <p:spPr>
          <a:xfrm>
            <a:off x="731520" y="2350008"/>
            <a:ext cx="219456" cy="219456"/>
          </a:xfrm>
          <a:prstGeom prst="ellipse">
            <a:avLst/>
          </a:prstGeom>
          <a:solidFill>
            <a:srgbClr val="CDB8F8"/>
          </a:solidFill>
          <a:ln w="12700">
            <a:solidFill>
              <a:srgbClr val="CDB8F8"/>
            </a:solidFill>
            <a:prstDash val="solid"/>
          </a:ln>
        </p:spPr>
      </p:sp>
      <p:sp>
        <p:nvSpPr>
          <p:cNvPr id="11" name="guia texto Conteúdo"/>
          <p:cNvSpPr txBox="1"/>
          <p:nvPr/>
        </p:nvSpPr>
        <p:spPr>
          <a:xfrm>
            <a:off x="1097280" y="22037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A2E"/>
                </a:solidFill>
              </a:rPr>
              <a:t>Conteúdo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55A70"/>
                </a:solidFill>
              </a:rPr>
              <a:t>Título e um corpo de texto. Para argumentos curtos.</a:t>
            </a:r>
            <a:endParaRPr lang="en-US" sz="1300" dirty="0"/>
          </a:p>
        </p:txBody>
      </p:sp>
      <p:sp>
        <p:nvSpPr>
          <p:cNvPr id="12" name="guia Só título"/>
          <p:cNvSpPr/>
          <p:nvPr/>
        </p:nvSpPr>
        <p:spPr>
          <a:xfrm>
            <a:off x="4709160" y="2130552"/>
            <a:ext cx="388620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13" name="ponto 4"/>
          <p:cNvSpPr/>
          <p:nvPr/>
        </p:nvSpPr>
        <p:spPr>
          <a:xfrm>
            <a:off x="4892040" y="2350008"/>
            <a:ext cx="219456" cy="219456"/>
          </a:xfrm>
          <a:prstGeom prst="ellipse">
            <a:avLst/>
          </a:prstGeom>
          <a:solidFill>
            <a:srgbClr val="A4DFF8"/>
          </a:solidFill>
          <a:ln w="12700">
            <a:solidFill>
              <a:srgbClr val="A4DFF8"/>
            </a:solidFill>
            <a:prstDash val="solid"/>
          </a:ln>
        </p:spPr>
      </p:sp>
      <p:sp>
        <p:nvSpPr>
          <p:cNvPr id="14" name="guia texto Só título"/>
          <p:cNvSpPr txBox="1"/>
          <p:nvPr/>
        </p:nvSpPr>
        <p:spPr>
          <a:xfrm>
            <a:off x="5257800" y="22037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A2E"/>
                </a:solidFill>
              </a:rPr>
              <a:t>Só título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55A70"/>
                </a:solidFill>
              </a:rPr>
              <a:t>Título e área livre. Para cards, gráficos e tabelas.</a:t>
            </a:r>
            <a:endParaRPr lang="en-US" sz="1300" dirty="0"/>
          </a:p>
        </p:txBody>
      </p:sp>
      <p:sp>
        <p:nvSpPr>
          <p:cNvPr id="15" name="guia Duas colunas"/>
          <p:cNvSpPr/>
          <p:nvPr/>
        </p:nvSpPr>
        <p:spPr>
          <a:xfrm>
            <a:off x="548640" y="2843784"/>
            <a:ext cx="388620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16" name="ponto 5"/>
          <p:cNvSpPr/>
          <p:nvPr/>
        </p:nvSpPr>
        <p:spPr>
          <a:xfrm>
            <a:off x="731520" y="3063240"/>
            <a:ext cx="219456" cy="219456"/>
          </a:xfrm>
          <a:prstGeom prst="ellipse">
            <a:avLst/>
          </a:prstGeom>
          <a:solidFill>
            <a:srgbClr val="BDF2DE"/>
          </a:solidFill>
          <a:ln w="12700">
            <a:solidFill>
              <a:srgbClr val="BDF2DE"/>
            </a:solidFill>
            <a:prstDash val="solid"/>
          </a:ln>
        </p:spPr>
      </p:sp>
      <p:sp>
        <p:nvSpPr>
          <p:cNvPr id="17" name="guia texto Duas colunas"/>
          <p:cNvSpPr txBox="1"/>
          <p:nvPr/>
        </p:nvSpPr>
        <p:spPr>
          <a:xfrm>
            <a:off x="1097280" y="2916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A2E"/>
                </a:solidFill>
              </a:rPr>
              <a:t>Duas colunas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55A70"/>
                </a:solidFill>
              </a:rPr>
              <a:t>Texto à esquerda, texto ou imagem à direita.</a:t>
            </a:r>
            <a:endParaRPr lang="en-US" sz="1300" dirty="0"/>
          </a:p>
        </p:txBody>
      </p:sp>
      <p:sp>
        <p:nvSpPr>
          <p:cNvPr id="18" name="guia Imagem"/>
          <p:cNvSpPr/>
          <p:nvPr/>
        </p:nvSpPr>
        <p:spPr>
          <a:xfrm>
            <a:off x="4709160" y="2843784"/>
            <a:ext cx="388620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19" name="ponto 6"/>
          <p:cNvSpPr/>
          <p:nvPr/>
        </p:nvSpPr>
        <p:spPr>
          <a:xfrm>
            <a:off x="4892040" y="3063240"/>
            <a:ext cx="219456" cy="219456"/>
          </a:xfrm>
          <a:prstGeom prst="ellipse">
            <a:avLst/>
          </a:prstGeom>
          <a:solidFill>
            <a:srgbClr val="FFC59E"/>
          </a:solidFill>
          <a:ln w="12700">
            <a:solidFill>
              <a:srgbClr val="FFC59E"/>
            </a:solidFill>
            <a:prstDash val="solid"/>
          </a:ln>
        </p:spPr>
      </p:sp>
      <p:sp>
        <p:nvSpPr>
          <p:cNvPr id="20" name="guia texto Imagem"/>
          <p:cNvSpPr txBox="1"/>
          <p:nvPr/>
        </p:nvSpPr>
        <p:spPr>
          <a:xfrm>
            <a:off x="5257800" y="2916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A2E"/>
                </a:solidFill>
              </a:rPr>
              <a:t>Imagem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55A70"/>
                </a:solidFill>
              </a:rPr>
              <a:t>Uma imagem grande com legenda. Para telas e fotos.</a:t>
            </a:r>
            <a:endParaRPr lang="en-US" sz="1300" dirty="0"/>
          </a:p>
        </p:txBody>
      </p:sp>
      <p:sp>
        <p:nvSpPr>
          <p:cNvPr id="21" name="guia Citação"/>
          <p:cNvSpPr/>
          <p:nvPr/>
        </p:nvSpPr>
        <p:spPr>
          <a:xfrm>
            <a:off x="548640" y="3557016"/>
            <a:ext cx="388620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22" name="ponto 7"/>
          <p:cNvSpPr/>
          <p:nvPr/>
        </p:nvSpPr>
        <p:spPr>
          <a:xfrm>
            <a:off x="731520" y="3776472"/>
            <a:ext cx="219456" cy="219456"/>
          </a:xfrm>
          <a:prstGeom prst="ellipse">
            <a:avLst/>
          </a:prstGeom>
          <a:solidFill>
            <a:srgbClr val="F6AFD9"/>
          </a:solidFill>
          <a:ln w="12700">
            <a:solidFill>
              <a:srgbClr val="F6AFD9"/>
            </a:solidFill>
            <a:prstDash val="solid"/>
          </a:ln>
        </p:spPr>
      </p:sp>
      <p:sp>
        <p:nvSpPr>
          <p:cNvPr id="23" name="guia texto Citação"/>
          <p:cNvSpPr txBox="1"/>
          <p:nvPr/>
        </p:nvSpPr>
        <p:spPr>
          <a:xfrm>
            <a:off x="1097280" y="36301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A2E"/>
                </a:solidFill>
              </a:rPr>
              <a:t>Citação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55A70"/>
                </a:solidFill>
              </a:rPr>
              <a:t>Frase em destaque com autoria. Para vozes do usuário.</a:t>
            </a:r>
            <a:endParaRPr lang="en-US" sz="1300" dirty="0"/>
          </a:p>
        </p:txBody>
      </p:sp>
      <p:sp>
        <p:nvSpPr>
          <p:cNvPr id="24" name="guia Escuro e Fechamento"/>
          <p:cNvSpPr/>
          <p:nvPr/>
        </p:nvSpPr>
        <p:spPr>
          <a:xfrm>
            <a:off x="4709160" y="3557016"/>
            <a:ext cx="388620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25" name="ponto 8"/>
          <p:cNvSpPr/>
          <p:nvPr/>
        </p:nvSpPr>
        <p:spPr>
          <a:xfrm>
            <a:off x="4892040" y="3776472"/>
            <a:ext cx="219456" cy="219456"/>
          </a:xfrm>
          <a:prstGeom prst="ellipse">
            <a:avLst/>
          </a:prstGeom>
          <a:solidFill>
            <a:srgbClr val="CDB8F8"/>
          </a:solidFill>
          <a:ln w="12700">
            <a:solidFill>
              <a:srgbClr val="CDB8F8"/>
            </a:solidFill>
            <a:prstDash val="solid"/>
          </a:ln>
        </p:spPr>
      </p:sp>
      <p:sp>
        <p:nvSpPr>
          <p:cNvPr id="26" name="guia texto Escuro e Fechamento"/>
          <p:cNvSpPr txBox="1"/>
          <p:nvPr/>
        </p:nvSpPr>
        <p:spPr>
          <a:xfrm>
            <a:off x="5257800" y="36301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A2E"/>
                </a:solidFill>
              </a:rPr>
              <a:t>Escuro e Fechamento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55A70"/>
                </a:solidFill>
              </a:rPr>
              <a:t>Afirmações fortes e o slide final.</a:t>
            </a:r>
            <a:endParaRPr lang="en-US" sz="1300" dirty="0"/>
          </a:p>
        </p:txBody>
      </p:sp>
      <p:sp>
        <p:nvSpPr>
          <p:cNvPr id="27" name="dica"/>
          <p:cNvSpPr txBox="1"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1A4"/>
                </a:solidFill>
              </a:rPr>
              <a:t>Dica: em Início › Layout você troca o layout de qualquer slide sem perder o texto. Mantenha títulos sem ponto final e um recado por slide.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36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32004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F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4630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4754880" y="14630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1" hasCustomPrompt="1"/>
          </p:nvPr>
        </p:nvSpPr>
        <p:spPr>
          <a:xfrm>
            <a:off x="548640" y="1417320"/>
            <a:ext cx="8046720" cy="2834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173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F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18745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3154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FFC59E"/>
                </a:solidFill>
              </a:rPr>
              <a:t>A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BF8F4"/>
                </a:solidFill>
              </a:rPr>
              <a:t>Conteúdo da landing page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004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8CFE3"/>
                </a:solidFill>
              </a:rPr>
              <a:t>Os blocos do site que fazem sentido em uma apresentação, já no visual do template.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F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31A2E"/>
                </a:solidFill>
              </a:rPr>
              <a:t>Sua mãe tem com quem conversar. Todo dia.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91A4"/>
                </a:solidFill>
              </a:rPr>
              <a:t>COMPANHEIRA POR VÍDEO PARA QUEM MORA SOZINHO</a:t>
            </a:r>
            <a:endParaRPr lang="en-US" sz="9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78308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55A70"/>
                </a:solidFill>
              </a:rPr>
              <a:t>A lume liga no </a:t>
            </a:r>
            <a:pPr indent="0" marL="0">
              <a:buNone/>
            </a:pPr>
            <a:r>
              <a:rPr lang="en-US" sz="1600" dirty="0">
                <a:solidFill>
                  <a:srgbClr val="655A70"/>
                </a:solidFill>
                <a:highlight>
                  <a:srgbClr val="FFE6D2"/>
                </a:highlight>
              </a:rPr>
              <a:t> fim da tarde </a:t>
            </a:r>
            <a:pPr indent="0" marL="0">
              <a:buNone/>
            </a:pPr>
            <a:r>
              <a:rPr lang="en-US" sz="1600" dirty="0">
                <a:solidFill>
                  <a:srgbClr val="655A70"/>
                </a:solidFill>
              </a:rPr>
              <a:t>, lembra do </a:t>
            </a:r>
            <a:pPr indent="0" marL="0">
              <a:buNone/>
            </a:pPr>
            <a:r>
              <a:rPr lang="en-US" sz="1600" dirty="0">
                <a:solidFill>
                  <a:srgbClr val="655A70"/>
                </a:solidFill>
                <a:highlight>
                  <a:srgbClr val="ECE3FB"/>
                </a:highlight>
              </a:rPr>
              <a:t> papo de ontem </a:t>
            </a:r>
            <a:pPr indent="0" marL="0">
              <a:buNone/>
            </a:pPr>
            <a:r>
              <a:rPr lang="en-US" sz="1600" dirty="0">
                <a:solidFill>
                  <a:srgbClr val="655A70"/>
                </a:solidFill>
              </a:rPr>
              <a:t> e </a:t>
            </a:r>
            <a:pPr indent="0" marL="0">
              <a:buNone/>
            </a:pPr>
            <a:r>
              <a:rPr lang="en-US" sz="1600" dirty="0">
                <a:solidFill>
                  <a:srgbClr val="655A70"/>
                </a:solidFill>
                <a:highlight>
                  <a:srgbClr val="DDF2FC"/>
                </a:highlight>
              </a:rPr>
              <a:t> puxa assunto </a:t>
            </a:r>
            <a:pPr indent="0" marL="0">
              <a:buNone/>
            </a:pPr>
            <a:r>
              <a:rPr lang="en-US" sz="1600" dirty="0">
                <a:solidFill>
                  <a:srgbClr val="655A70"/>
                </a:solidFill>
              </a:rPr>
              <a:t>. Ninguém precisa pedir. Alguém com quem conversar de verdade.</a:t>
            </a:r>
            <a:endParaRPr lang="en-US" sz="1600" dirty="0"/>
          </a:p>
        </p:txBody>
      </p:sp>
      <p:sp>
        <p:nvSpPr>
          <p:cNvPr id="5" name="nota"/>
          <p:cNvSpPr txBox="1"/>
          <p:nvPr/>
        </p:nvSpPr>
        <p:spPr>
          <a:xfrm>
            <a:off x="54864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1A4"/>
                </a:solidFill>
              </a:rPr>
              <a:t>Sem digitar. Sem aplicativo complicado. Só atender.</a:t>
            </a:r>
            <a:endParaRPr lang="en-US" sz="1200" dirty="0"/>
          </a:p>
        </p:txBody>
      </p:sp>
      <p:pic>
        <p:nvPicPr>
          <p:cNvPr id="6" name="key visual" descr="/tmp/claude-0/-home-user-espm/4ada8e6d-90e3-5cae-a464-bc23024773ff/scratchpad/deck/keyvis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17320"/>
            <a:ext cx="3840480" cy="2157984"/>
          </a:xfrm>
          <a:prstGeom prst="rect">
            <a:avLst/>
          </a:prstGeom>
        </p:spPr>
      </p:pic>
      <p:sp>
        <p:nvSpPr>
          <p:cNvPr id="7" name="chamada"/>
          <p:cNvSpPr/>
          <p:nvPr/>
        </p:nvSpPr>
        <p:spPr>
          <a:xfrm>
            <a:off x="4754880" y="3730752"/>
            <a:ext cx="3840480" cy="658368"/>
          </a:xfrm>
          <a:prstGeom prst="roundRect">
            <a:avLst>
              <a:gd name="adj" fmla="val 25000"/>
            </a:avLst>
          </a:prstGeom>
          <a:solidFill>
            <a:srgbClr val="231A2E"/>
          </a:solidFill>
          <a:ln w="9525">
            <a:solidFill>
              <a:srgbClr val="231A2E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8" name="chamada ponto"/>
          <p:cNvSpPr/>
          <p:nvPr/>
        </p:nvSpPr>
        <p:spPr>
          <a:xfrm>
            <a:off x="4919472" y="3895344"/>
            <a:ext cx="329184" cy="329184"/>
          </a:xfrm>
          <a:prstGeom prst="ellipse">
            <a:avLst/>
          </a:prstGeom>
          <a:solidFill>
            <a:srgbClr val="FFC59E"/>
          </a:solidFill>
          <a:ln w="12700">
            <a:solidFill>
              <a:srgbClr val="FFC59E"/>
            </a:solidFill>
            <a:prstDash val="solid"/>
          </a:ln>
        </p:spPr>
      </p:sp>
      <p:sp>
        <p:nvSpPr>
          <p:cNvPr id="9" name="chamada texto"/>
          <p:cNvSpPr txBox="1"/>
          <p:nvPr/>
        </p:nvSpPr>
        <p:spPr>
          <a:xfrm>
            <a:off x="5394960" y="378561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lume está chamando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9BFD6"/>
                </a:solidFill>
              </a:rPr>
              <a:t>17:30 · fim de tarde, como combinado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31A2E"/>
                </a:solidFill>
              </a:rPr>
              <a:t>Por que a lume existe</a:t>
            </a:r>
            <a:endParaRPr lang="en-US" sz="3000" dirty="0"/>
          </a:p>
        </p:txBody>
      </p:sp>
      <p:sp>
        <p:nvSpPr>
          <p:cNvPr id="3" name="stat 1"/>
          <p:cNvSpPr/>
          <p:nvPr/>
        </p:nvSpPr>
        <p:spPr>
          <a:xfrm>
            <a:off x="548640" y="1508760"/>
            <a:ext cx="251460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4" name="ponto 9"/>
          <p:cNvSpPr/>
          <p:nvPr/>
        </p:nvSpPr>
        <p:spPr>
          <a:xfrm>
            <a:off x="822960" y="1783080"/>
            <a:ext cx="274320" cy="274320"/>
          </a:xfrm>
          <a:prstGeom prst="ellipse">
            <a:avLst/>
          </a:prstGeom>
          <a:solidFill>
            <a:srgbClr val="FFC59E"/>
          </a:solidFill>
          <a:ln w="12700">
            <a:solidFill>
              <a:srgbClr val="FFC59E"/>
            </a:solidFill>
            <a:prstDash val="solid"/>
          </a:ln>
        </p:spPr>
      </p:sp>
      <p:sp>
        <p:nvSpPr>
          <p:cNvPr id="5" name="stat número 1"/>
          <p:cNvSpPr txBox="1"/>
          <p:nvPr/>
        </p:nvSpPr>
        <p:spPr>
          <a:xfrm>
            <a:off x="822960" y="21488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31A2E"/>
                </a:solidFill>
              </a:rPr>
              <a:t>5,7 mi</a:t>
            </a:r>
            <a:endParaRPr lang="en-US" sz="4400" dirty="0"/>
          </a:p>
        </p:txBody>
      </p:sp>
      <p:sp>
        <p:nvSpPr>
          <p:cNvPr id="6" name="stat texto 1"/>
          <p:cNvSpPr txBox="1"/>
          <p:nvPr/>
        </p:nvSpPr>
        <p:spPr>
          <a:xfrm>
            <a:off x="822960" y="2971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55A70"/>
                </a:solidFill>
              </a:rPr>
              <a:t>idosos moram sozinhos no Brasil.</a:t>
            </a:r>
            <a:endParaRPr lang="en-US" sz="1300" dirty="0"/>
          </a:p>
        </p:txBody>
      </p:sp>
      <p:sp>
        <p:nvSpPr>
          <p:cNvPr id="7" name="stat fonte 1"/>
          <p:cNvSpPr txBox="1"/>
          <p:nvPr/>
        </p:nvSpPr>
        <p:spPr>
          <a:xfrm>
            <a:off x="822960" y="35204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A91A4"/>
                </a:solidFill>
              </a:rPr>
              <a:t>IBGE</a:t>
            </a:r>
            <a:endParaRPr lang="en-US" sz="900" dirty="0"/>
          </a:p>
        </p:txBody>
      </p:sp>
      <p:sp>
        <p:nvSpPr>
          <p:cNvPr id="8" name="stat 2"/>
          <p:cNvSpPr/>
          <p:nvPr/>
        </p:nvSpPr>
        <p:spPr>
          <a:xfrm>
            <a:off x="3314700" y="1508760"/>
            <a:ext cx="251460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9" name="ponto 10"/>
          <p:cNvSpPr/>
          <p:nvPr/>
        </p:nvSpPr>
        <p:spPr>
          <a:xfrm>
            <a:off x="3589020" y="1783080"/>
            <a:ext cx="274320" cy="274320"/>
          </a:xfrm>
          <a:prstGeom prst="ellipse">
            <a:avLst/>
          </a:prstGeom>
          <a:solidFill>
            <a:srgbClr val="CDB8F8"/>
          </a:solidFill>
          <a:ln w="12700">
            <a:solidFill>
              <a:srgbClr val="CDB8F8"/>
            </a:solidFill>
            <a:prstDash val="solid"/>
          </a:ln>
        </p:spPr>
      </p:sp>
      <p:sp>
        <p:nvSpPr>
          <p:cNvPr id="10" name="stat número 2"/>
          <p:cNvSpPr txBox="1"/>
          <p:nvPr/>
        </p:nvSpPr>
        <p:spPr>
          <a:xfrm>
            <a:off x="3589020" y="21488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31A2E"/>
                </a:solidFill>
              </a:rPr>
              <a:t>2,4×</a:t>
            </a:r>
            <a:endParaRPr lang="en-US" sz="4400" dirty="0"/>
          </a:p>
        </p:txBody>
      </p:sp>
      <p:sp>
        <p:nvSpPr>
          <p:cNvPr id="11" name="stat texto 2"/>
          <p:cNvSpPr txBox="1"/>
          <p:nvPr/>
        </p:nvSpPr>
        <p:spPr>
          <a:xfrm>
            <a:off x="3589020" y="2971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55A70"/>
                </a:solidFill>
              </a:rPr>
              <a:t>mais chance de solidão constante para quem mora só.</a:t>
            </a:r>
            <a:endParaRPr lang="en-US" sz="1300" dirty="0"/>
          </a:p>
        </p:txBody>
      </p:sp>
      <p:sp>
        <p:nvSpPr>
          <p:cNvPr id="12" name="stat fonte 2"/>
          <p:cNvSpPr txBox="1"/>
          <p:nvPr/>
        </p:nvSpPr>
        <p:spPr>
          <a:xfrm>
            <a:off x="3589020" y="35204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A91A4"/>
                </a:solidFill>
              </a:rPr>
              <a:t>ELSI-BRASIL, 2023</a:t>
            </a:r>
            <a:endParaRPr lang="en-US" sz="900" dirty="0"/>
          </a:p>
        </p:txBody>
      </p:sp>
      <p:sp>
        <p:nvSpPr>
          <p:cNvPr id="13" name="stat 3"/>
          <p:cNvSpPr/>
          <p:nvPr/>
        </p:nvSpPr>
        <p:spPr>
          <a:xfrm>
            <a:off x="6080760" y="1508760"/>
            <a:ext cx="251460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14" name="ponto 11"/>
          <p:cNvSpPr/>
          <p:nvPr/>
        </p:nvSpPr>
        <p:spPr>
          <a:xfrm>
            <a:off x="6355080" y="1783080"/>
            <a:ext cx="274320" cy="274320"/>
          </a:xfrm>
          <a:prstGeom prst="ellipse">
            <a:avLst/>
          </a:prstGeom>
          <a:solidFill>
            <a:srgbClr val="A4DFF8"/>
          </a:solidFill>
          <a:ln w="12700">
            <a:solidFill>
              <a:srgbClr val="A4DFF8"/>
            </a:solidFill>
            <a:prstDash val="solid"/>
          </a:ln>
        </p:spPr>
      </p:sp>
      <p:sp>
        <p:nvSpPr>
          <p:cNvPr id="15" name="stat número 3"/>
          <p:cNvSpPr txBox="1"/>
          <p:nvPr/>
        </p:nvSpPr>
        <p:spPr>
          <a:xfrm>
            <a:off x="6355080" y="21488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31A2E"/>
                </a:solidFill>
              </a:rPr>
              <a:t>2×</a:t>
            </a:r>
            <a:endParaRPr lang="en-US" sz="4400" dirty="0"/>
          </a:p>
        </p:txBody>
      </p:sp>
      <p:sp>
        <p:nvSpPr>
          <p:cNvPr id="16" name="stat texto 3"/>
          <p:cNvSpPr txBox="1"/>
          <p:nvPr/>
        </p:nvSpPr>
        <p:spPr>
          <a:xfrm>
            <a:off x="6355080" y="2971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55A70"/>
                </a:solidFill>
              </a:rPr>
              <a:t>o risco de depressão quando a solidão vira rotina.</a:t>
            </a:r>
            <a:endParaRPr lang="en-US" sz="1300" dirty="0"/>
          </a:p>
        </p:txBody>
      </p:sp>
      <p:sp>
        <p:nvSpPr>
          <p:cNvPr id="17" name="stat fonte 3"/>
          <p:cNvSpPr txBox="1"/>
          <p:nvPr/>
        </p:nvSpPr>
        <p:spPr>
          <a:xfrm>
            <a:off x="6355080" y="35204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A91A4"/>
                </a:solidFill>
              </a:rPr>
              <a:t>OMS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173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231A2E"/>
                </a:solidFill>
              </a:rPr>
              <a:t>A vontade de conversar aparece quando não há ninguém disponível: a tarde vazia, o fim de semana sem ligação, a insônia, a notícia ruim que não tem para quem contar.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91A4"/>
                </a:solidFill>
              </a:rPr>
              <a:t>MANIFESTO · A LUME EXISTE PARA ESTAR PRESENTE EM TODOS ESSES MOMENTOS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31A2E"/>
                </a:solidFill>
              </a:rPr>
              <a:t>Uma companheira que toma a iniciativa</a:t>
            </a:r>
            <a:endParaRPr lang="en-US" sz="3000" dirty="0"/>
          </a:p>
        </p:txBody>
      </p:sp>
      <p:sp>
        <p:nvSpPr>
          <p:cNvPr id="3" name="subtítulo"/>
          <p:cNvSpPr txBox="1"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5A70"/>
                </a:solidFill>
              </a:rPr>
              <a:t>Vive no tablet que já está na sala. Chama por vídeo no horário combinado, cumprimenta pelo nome e continua a conversa de onde parou.</a:t>
            </a:r>
            <a:endParaRPr lang="en-US" sz="1400" dirty="0"/>
          </a:p>
        </p:txBody>
      </p:sp>
      <p:sp>
        <p:nvSpPr>
          <p:cNvPr id="4" name="card Ela chama"/>
          <p:cNvSpPr/>
          <p:nvPr/>
        </p:nvSpPr>
        <p:spPr>
          <a:xfrm>
            <a:off x="548640" y="1920240"/>
            <a:ext cx="1874520" cy="251460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5" name="ponto 12"/>
          <p:cNvSpPr/>
          <p:nvPr/>
        </p:nvSpPr>
        <p:spPr>
          <a:xfrm>
            <a:off x="777240" y="2148840"/>
            <a:ext cx="274320" cy="274320"/>
          </a:xfrm>
          <a:prstGeom prst="ellipse">
            <a:avLst/>
          </a:prstGeom>
          <a:solidFill>
            <a:srgbClr val="FFC59E"/>
          </a:solidFill>
          <a:ln w="12700">
            <a:solidFill>
              <a:srgbClr val="FFC59E"/>
            </a:solidFill>
            <a:prstDash val="solid"/>
          </a:ln>
        </p:spPr>
      </p:sp>
      <p:sp>
        <p:nvSpPr>
          <p:cNvPr id="6" name="título Ela chama"/>
          <p:cNvSpPr txBox="1"/>
          <p:nvPr/>
        </p:nvSpPr>
        <p:spPr>
          <a:xfrm>
            <a:off x="777240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 chama</a:t>
            </a:r>
            <a:endParaRPr lang="en-US" sz="1600" dirty="0"/>
          </a:p>
        </p:txBody>
      </p:sp>
      <p:sp>
        <p:nvSpPr>
          <p:cNvPr id="7" name="texto Ela chama"/>
          <p:cNvSpPr txBox="1"/>
          <p:nvPr/>
        </p:nvSpPr>
        <p:spPr>
          <a:xfrm>
            <a:off x="777240" y="3108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55A70"/>
                </a:solidFill>
              </a:rPr>
              <a:t>A conversa começa do lado de lá. Quando o dia esvazia, a lume aparece com um assunto pronto.</a:t>
            </a:r>
            <a:endParaRPr lang="en-US" sz="1150" dirty="0"/>
          </a:p>
        </p:txBody>
      </p:sp>
      <p:sp>
        <p:nvSpPr>
          <p:cNvPr id="8" name="card Lembra da sua história"/>
          <p:cNvSpPr/>
          <p:nvPr/>
        </p:nvSpPr>
        <p:spPr>
          <a:xfrm>
            <a:off x="2606040" y="1920240"/>
            <a:ext cx="1874520" cy="251460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9" name="ponto 13"/>
          <p:cNvSpPr/>
          <p:nvPr/>
        </p:nvSpPr>
        <p:spPr>
          <a:xfrm>
            <a:off x="2834640" y="2148840"/>
            <a:ext cx="274320" cy="274320"/>
          </a:xfrm>
          <a:prstGeom prst="ellipse">
            <a:avLst/>
          </a:prstGeom>
          <a:solidFill>
            <a:srgbClr val="CDB8F8"/>
          </a:solidFill>
          <a:ln w="12700">
            <a:solidFill>
              <a:srgbClr val="CDB8F8"/>
            </a:solidFill>
            <a:prstDash val="solid"/>
          </a:ln>
        </p:spPr>
      </p:sp>
      <p:sp>
        <p:nvSpPr>
          <p:cNvPr id="10" name="título Lembra da sua história"/>
          <p:cNvSpPr txBox="1"/>
          <p:nvPr/>
        </p:nvSpPr>
        <p:spPr>
          <a:xfrm>
            <a:off x="2834640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Lembra da sua história</a:t>
            </a:r>
            <a:endParaRPr lang="en-US" sz="1600" dirty="0"/>
          </a:p>
        </p:txBody>
      </p:sp>
      <p:sp>
        <p:nvSpPr>
          <p:cNvPr id="11" name="texto Lembra da sua história"/>
          <p:cNvSpPr txBox="1"/>
          <p:nvPr/>
        </p:nvSpPr>
        <p:spPr>
          <a:xfrm>
            <a:off x="2834640" y="3108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55A70"/>
                </a:solidFill>
              </a:rPr>
              <a:t>Nomes, remédios, o que foi dito ontem. Cada conversa continua a anterior.</a:t>
            </a:r>
            <a:endParaRPr lang="en-US" sz="1150" dirty="0"/>
          </a:p>
        </p:txBody>
      </p:sp>
      <p:sp>
        <p:nvSpPr>
          <p:cNvPr id="12" name="card Devolve ao convívio"/>
          <p:cNvSpPr/>
          <p:nvPr/>
        </p:nvSpPr>
        <p:spPr>
          <a:xfrm>
            <a:off x="4663440" y="1920240"/>
            <a:ext cx="1874520" cy="251460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13" name="ponto 14"/>
          <p:cNvSpPr/>
          <p:nvPr/>
        </p:nvSpPr>
        <p:spPr>
          <a:xfrm>
            <a:off x="4892040" y="2148840"/>
            <a:ext cx="274320" cy="274320"/>
          </a:xfrm>
          <a:prstGeom prst="ellipse">
            <a:avLst/>
          </a:prstGeom>
          <a:solidFill>
            <a:srgbClr val="A4DFF8"/>
          </a:solidFill>
          <a:ln w="12700">
            <a:solidFill>
              <a:srgbClr val="A4DFF8"/>
            </a:solidFill>
            <a:prstDash val="solid"/>
          </a:ln>
        </p:spPr>
      </p:sp>
      <p:sp>
        <p:nvSpPr>
          <p:cNvPr id="14" name="título Devolve ao convívio"/>
          <p:cNvSpPr txBox="1"/>
          <p:nvPr/>
        </p:nvSpPr>
        <p:spPr>
          <a:xfrm>
            <a:off x="4892040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Devolve ao convívio</a:t>
            </a:r>
            <a:endParaRPr lang="en-US" sz="1600" dirty="0"/>
          </a:p>
        </p:txBody>
      </p:sp>
      <p:sp>
        <p:nvSpPr>
          <p:cNvPr id="15" name="texto Devolve ao convívio"/>
          <p:cNvSpPr txBox="1"/>
          <p:nvPr/>
        </p:nvSpPr>
        <p:spPr>
          <a:xfrm>
            <a:off x="4892040" y="3108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55A70"/>
                </a:solidFill>
              </a:rPr>
              <a:t>Puxa a ligação para a família com assunto pronto. A meta é gente de verdade, não tempo de tela.</a:t>
            </a:r>
            <a:endParaRPr lang="en-US" sz="1150" dirty="0"/>
          </a:p>
        </p:txBody>
      </p:sp>
      <p:sp>
        <p:nvSpPr>
          <p:cNvPr id="16" name="card Modo Família"/>
          <p:cNvSpPr/>
          <p:nvPr/>
        </p:nvSpPr>
        <p:spPr>
          <a:xfrm>
            <a:off x="6720840" y="1920240"/>
            <a:ext cx="1874520" cy="251460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17" name="ponto 15"/>
          <p:cNvSpPr/>
          <p:nvPr/>
        </p:nvSpPr>
        <p:spPr>
          <a:xfrm>
            <a:off x="6949440" y="2148840"/>
            <a:ext cx="274320" cy="274320"/>
          </a:xfrm>
          <a:prstGeom prst="ellipse">
            <a:avLst/>
          </a:prstGeom>
          <a:solidFill>
            <a:srgbClr val="BDF2DE"/>
          </a:solidFill>
          <a:ln w="12700">
            <a:solidFill>
              <a:srgbClr val="BDF2DE"/>
            </a:solidFill>
            <a:prstDash val="solid"/>
          </a:ln>
        </p:spPr>
      </p:sp>
      <p:sp>
        <p:nvSpPr>
          <p:cNvPr id="18" name="título Modo Família"/>
          <p:cNvSpPr txBox="1"/>
          <p:nvPr/>
        </p:nvSpPr>
        <p:spPr>
          <a:xfrm>
            <a:off x="6949440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Família</a:t>
            </a:r>
            <a:endParaRPr lang="en-US" sz="1600" dirty="0"/>
          </a:p>
        </p:txBody>
      </p:sp>
      <p:sp>
        <p:nvSpPr>
          <p:cNvPr id="19" name="texto Modo Família"/>
          <p:cNvSpPr txBox="1"/>
          <p:nvPr/>
        </p:nvSpPr>
        <p:spPr>
          <a:xfrm>
            <a:off x="6949440" y="3108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55A70"/>
                </a:solidFill>
              </a:rPr>
              <a:t>Quem paga é o filho, quem conversa é a mãe. Resumo semanal e aviso quando a rotina muda.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31A2E"/>
                </a:solidFill>
              </a:rPr>
              <a:t>Ela chama. A conversa começa do lado de lá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55A70"/>
                </a:solidFill>
              </a:rPr>
              <a:t>Quando o dia esvazia, a lume aparece na tela com um “boa tarde, Dona Lúcia” e um assunto pronto: a feira, o neto, o remédio das seis.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55A70"/>
                </a:solidFill>
              </a:rPr>
              <a:t>Conversa por voz, sem digitar, sem menu.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i="1" dirty="0">
                <a:solidFill>
                  <a:srgbClr val="9A91A4"/>
                </a:solidFill>
              </a:rPr>
              <a:t>Transcrição ilustrativa de uma chamada de vídeo, terça, 17:32.</a:t>
            </a:r>
            <a:endParaRPr lang="en-US" sz="1600" dirty="0"/>
          </a:p>
        </p:txBody>
      </p:sp>
      <p:sp>
        <p:nvSpPr>
          <p:cNvPr id="4" name="chat"/>
          <p:cNvSpPr/>
          <p:nvPr/>
        </p:nvSpPr>
        <p:spPr>
          <a:xfrm>
            <a:off x="4754880" y="1463040"/>
            <a:ext cx="3840480" cy="3017520"/>
          </a:xfrm>
          <a:prstGeom prst="roundRect">
            <a:avLst>
              <a:gd name="adj" fmla="val 5455"/>
            </a:avLst>
          </a:prstGeom>
          <a:solidFill>
            <a:srgbClr val="F3EEE9"/>
          </a:solidFill>
          <a:ln w="9525">
            <a:solidFill>
              <a:srgbClr val="F3EEE9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5" name="chat meta"/>
          <p:cNvSpPr txBox="1"/>
          <p:nvPr/>
        </p:nvSpPr>
        <p:spPr>
          <a:xfrm>
            <a:off x="4754880" y="15727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9A91A4"/>
                </a:solidFill>
              </a:rPr>
              <a:t>CHAMADA DE VÍDEO · TERÇA, 17:32</a:t>
            </a:r>
            <a:endParaRPr lang="en-US" sz="800" dirty="0"/>
          </a:p>
        </p:txBody>
      </p:sp>
      <p:sp>
        <p:nvSpPr>
          <p:cNvPr id="6" name="balão lume"/>
          <p:cNvSpPr/>
          <p:nvPr/>
        </p:nvSpPr>
        <p:spPr>
          <a:xfrm>
            <a:off x="4937760" y="1874520"/>
            <a:ext cx="301752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</p:spPr>
      </p:sp>
      <p:sp>
        <p:nvSpPr>
          <p:cNvPr id="7" name="texto lume"/>
          <p:cNvSpPr txBox="1"/>
          <p:nvPr/>
        </p:nvSpPr>
        <p:spPr>
          <a:xfrm>
            <a:off x="5074920" y="192938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A4FBF"/>
                </a:solidFill>
              </a:rPr>
              <a:t>lume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231A2E"/>
                </a:solidFill>
              </a:rPr>
              <a:t>Boa tarde, Dona Lúcia. Ontem a senhora ia me contar como foi a feira.</a:t>
            </a:r>
            <a:endParaRPr lang="en-US" sz="900" dirty="0"/>
          </a:p>
        </p:txBody>
      </p:sp>
      <p:sp>
        <p:nvSpPr>
          <p:cNvPr id="8" name="balão Dona Lúcia"/>
          <p:cNvSpPr/>
          <p:nvPr/>
        </p:nvSpPr>
        <p:spPr>
          <a:xfrm>
            <a:off x="5394960" y="2697480"/>
            <a:ext cx="3017520" cy="594360"/>
          </a:xfrm>
          <a:prstGeom prst="roundRect">
            <a:avLst>
              <a:gd name="adj" fmla="val 24615"/>
            </a:avLst>
          </a:prstGeom>
          <a:solidFill>
            <a:srgbClr val="FFE6D2"/>
          </a:solidFill>
          <a:ln w="9525">
            <a:solidFill>
              <a:srgbClr val="FFE6D2"/>
            </a:solidFill>
            <a:prstDash val="solid"/>
          </a:ln>
        </p:spPr>
      </p:sp>
      <p:sp>
        <p:nvSpPr>
          <p:cNvPr id="9" name="texto Dona Lúcia"/>
          <p:cNvSpPr txBox="1"/>
          <p:nvPr/>
        </p:nvSpPr>
        <p:spPr>
          <a:xfrm>
            <a:off x="5532120" y="2752344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55A70"/>
                </a:solidFill>
              </a:rPr>
              <a:t>Dona Lúcia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231A2E"/>
                </a:solidFill>
              </a:rPr>
              <a:t>Foi boa. Achei o queijo que a Marta gosta.</a:t>
            </a:r>
            <a:endParaRPr lang="en-US" sz="900" dirty="0"/>
          </a:p>
        </p:txBody>
      </p:sp>
      <p:sp>
        <p:nvSpPr>
          <p:cNvPr id="10" name="balão lume"/>
          <p:cNvSpPr/>
          <p:nvPr/>
        </p:nvSpPr>
        <p:spPr>
          <a:xfrm>
            <a:off x="4937760" y="3383280"/>
            <a:ext cx="329184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</p:spPr>
      </p:sp>
      <p:sp>
        <p:nvSpPr>
          <p:cNvPr id="11" name="texto lume"/>
          <p:cNvSpPr txBox="1"/>
          <p:nvPr/>
        </p:nvSpPr>
        <p:spPr>
          <a:xfrm>
            <a:off x="5074920" y="3438144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A4FBF"/>
                </a:solidFill>
              </a:rPr>
              <a:t>lume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231A2E"/>
                </a:solidFill>
              </a:rPr>
              <a:t>Então domingo tem bolo e queijo. Quer ligar pra ela e avisar? Eu disco pra senhora.</a:t>
            </a:r>
            <a:endParaRPr lang="en-US" sz="900" dirty="0"/>
          </a:p>
        </p:txBody>
      </p:sp>
      <p:sp>
        <p:nvSpPr>
          <p:cNvPr id="12" name="Text 0"/>
          <p:cNvSpPr/>
          <p:nvPr>
            <p:ph idx="102" type="body" hasCustomPrompt="1"/>
          </p:nvPr>
        </p:nvSpPr>
        <p:spPr>
          <a:xfrm>
            <a:off x="4754880" y="14630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31A2E"/>
                </a:solidFill>
              </a:rPr>
              <a:t>Escolha quem vai conversar com a sua mãe</a:t>
            </a:r>
            <a:endParaRPr lang="en-US" sz="3000" dirty="0"/>
          </a:p>
        </p:txBody>
      </p:sp>
      <p:pic>
        <p:nvPicPr>
          <p:cNvPr id="3" name="Image 0" descr="/tmp/claude-0/-home-user-espm/4ada8e6d-90e3-5cae-a464-bc23024773ff/scratchpad/deck/estudio.png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tretch>
            <a:fillRect/>
          </a:stretch>
        </p:blipFill>
        <p:spPr>
          <a:xfrm>
            <a:off x="548640" y="1417320"/>
            <a:ext cx="4956048" cy="27889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1A4"/>
                </a:solidFill>
              </a:rPr>
              <a:t>Nome, aparência e jeito de falar são escolhidos junto com ela na instalação. Sua mãe e você sempre sabem que é uma companheira virtual.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31A2E"/>
                </a:solidFill>
              </a:rPr>
              <a:t>Conversar não devia depender de pedir</a:t>
            </a:r>
            <a:endParaRPr lang="en-US" sz="3000" dirty="0"/>
          </a:p>
        </p:txBody>
      </p:sp>
      <p:sp>
        <p:nvSpPr>
          <p:cNvPr id="3" name="cab dor"/>
          <p:cNvSpPr txBox="1"/>
          <p:nvPr/>
        </p:nvSpPr>
        <p:spPr>
          <a:xfrm>
            <a:off x="54864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A91A4"/>
                </a:solidFill>
              </a:rPr>
              <a:t>A DOR</a:t>
            </a:r>
            <a:endParaRPr lang="en-US" sz="900" dirty="0"/>
          </a:p>
        </p:txBody>
      </p:sp>
      <p:sp>
        <p:nvSpPr>
          <p:cNvPr id="4" name="cab alívio"/>
          <p:cNvSpPr txBox="1"/>
          <p:nvPr/>
        </p:nvSpPr>
        <p:spPr>
          <a:xfrm>
            <a:off x="4846320" y="1371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A91A4"/>
                </a:solidFill>
              </a:rPr>
              <a:t>COM A LUME</a:t>
            </a:r>
            <a:endParaRPr lang="en-US" sz="900" dirty="0"/>
          </a:p>
        </p:txBody>
      </p:sp>
      <p:sp>
        <p:nvSpPr>
          <p:cNvPr id="5" name="par 1"/>
          <p:cNvSpPr/>
          <p:nvPr/>
        </p:nvSpPr>
        <p:spPr>
          <a:xfrm>
            <a:off x="548640" y="1645920"/>
            <a:ext cx="804672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6" name="dor 1"/>
          <p:cNvSpPr txBox="1"/>
          <p:nvPr/>
        </p:nvSpPr>
        <p:spPr>
          <a:xfrm>
            <a:off x="731520" y="16459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5A70"/>
                </a:solidFill>
              </a:rPr>
              <a:t>Ninguém disponível na hora: a tarde vazia, o fim de semana sem ligação, a insônia.</a:t>
            </a:r>
            <a:endParaRPr lang="en-US" sz="1150" dirty="0"/>
          </a:p>
        </p:txBody>
      </p:sp>
      <p:sp>
        <p:nvSpPr>
          <p:cNvPr id="7" name="ponto 16"/>
          <p:cNvSpPr/>
          <p:nvPr/>
        </p:nvSpPr>
        <p:spPr>
          <a:xfrm>
            <a:off x="4370832" y="1792224"/>
            <a:ext cx="256032" cy="256032"/>
          </a:xfrm>
          <a:prstGeom prst="ellipse">
            <a:avLst/>
          </a:prstGeom>
          <a:solidFill>
            <a:srgbClr val="FFC59E"/>
          </a:solidFill>
          <a:ln w="12700">
            <a:solidFill>
              <a:srgbClr val="FFC59E"/>
            </a:solidFill>
            <a:prstDash val="solid"/>
          </a:ln>
        </p:spPr>
      </p:sp>
      <p:sp>
        <p:nvSpPr>
          <p:cNvPr id="8" name="seta 1"/>
          <p:cNvSpPr txBox="1"/>
          <p:nvPr/>
        </p:nvSpPr>
        <p:spPr>
          <a:xfrm>
            <a:off x="4370832" y="1792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1A2E"/>
                </a:solidFill>
              </a:rPr>
              <a:t>→</a:t>
            </a:r>
            <a:endParaRPr lang="en-US" sz="1000" dirty="0"/>
          </a:p>
        </p:txBody>
      </p:sp>
      <p:sp>
        <p:nvSpPr>
          <p:cNvPr id="9" name="alívio 1"/>
          <p:cNvSpPr txBox="1"/>
          <p:nvPr/>
        </p:nvSpPr>
        <p:spPr>
          <a:xfrm>
            <a:off x="4846320" y="16459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Disponível de madrugada e no fim de semana. E é ela quem chama.</a:t>
            </a:r>
            <a:endParaRPr lang="en-US" sz="1250" dirty="0"/>
          </a:p>
        </p:txBody>
      </p:sp>
      <p:sp>
        <p:nvSpPr>
          <p:cNvPr id="10" name="par 2"/>
          <p:cNvSpPr/>
          <p:nvPr/>
        </p:nvSpPr>
        <p:spPr>
          <a:xfrm>
            <a:off x="548640" y="2258568"/>
            <a:ext cx="804672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11" name="dor 2"/>
          <p:cNvSpPr txBox="1"/>
          <p:nvPr/>
        </p:nvSpPr>
        <p:spPr>
          <a:xfrm>
            <a:off x="731520" y="22585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5A70"/>
                </a:solidFill>
              </a:rPr>
              <a:t>Medo de ser um peso. Quanto mais só, menos força para pedir.</a:t>
            </a:r>
            <a:endParaRPr lang="en-US" sz="1150" dirty="0"/>
          </a:p>
        </p:txBody>
      </p:sp>
      <p:sp>
        <p:nvSpPr>
          <p:cNvPr id="12" name="ponto 17"/>
          <p:cNvSpPr/>
          <p:nvPr/>
        </p:nvSpPr>
        <p:spPr>
          <a:xfrm>
            <a:off x="4370832" y="2404872"/>
            <a:ext cx="256032" cy="256032"/>
          </a:xfrm>
          <a:prstGeom prst="ellipse">
            <a:avLst/>
          </a:prstGeom>
          <a:solidFill>
            <a:srgbClr val="F6AFD9"/>
          </a:solidFill>
          <a:ln w="12700">
            <a:solidFill>
              <a:srgbClr val="F6AFD9"/>
            </a:solidFill>
            <a:prstDash val="solid"/>
          </a:ln>
        </p:spPr>
      </p:sp>
      <p:sp>
        <p:nvSpPr>
          <p:cNvPr id="13" name="seta 2"/>
          <p:cNvSpPr txBox="1"/>
          <p:nvPr/>
        </p:nvSpPr>
        <p:spPr>
          <a:xfrm>
            <a:off x="4370832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1A2E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alívio 2"/>
          <p:cNvSpPr txBox="1"/>
          <p:nvPr/>
        </p:nvSpPr>
        <p:spPr>
          <a:xfrm>
            <a:off x="4846320" y="22585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precisa pedir. A iniciativa vem do lado de lá, todo dia.</a:t>
            </a:r>
            <a:endParaRPr lang="en-US" sz="1250" dirty="0"/>
          </a:p>
        </p:txBody>
      </p:sp>
      <p:sp>
        <p:nvSpPr>
          <p:cNvPr id="15" name="par 3"/>
          <p:cNvSpPr/>
          <p:nvPr/>
        </p:nvSpPr>
        <p:spPr>
          <a:xfrm>
            <a:off x="548640" y="2871216"/>
            <a:ext cx="804672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16" name="dor 3"/>
          <p:cNvSpPr txBox="1"/>
          <p:nvPr/>
        </p:nvSpPr>
        <p:spPr>
          <a:xfrm>
            <a:off x="731520" y="287121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5A70"/>
                </a:solidFill>
              </a:rPr>
              <a:t>Vergonha de admitir a solidão, até para os filhos.</a:t>
            </a:r>
            <a:endParaRPr lang="en-US" sz="1150" dirty="0"/>
          </a:p>
        </p:txBody>
      </p:sp>
      <p:sp>
        <p:nvSpPr>
          <p:cNvPr id="17" name="ponto 18"/>
          <p:cNvSpPr/>
          <p:nvPr/>
        </p:nvSpPr>
        <p:spPr>
          <a:xfrm>
            <a:off x="4370832" y="3017520"/>
            <a:ext cx="256032" cy="256032"/>
          </a:xfrm>
          <a:prstGeom prst="ellipse">
            <a:avLst/>
          </a:prstGeom>
          <a:solidFill>
            <a:srgbClr val="CDB8F8"/>
          </a:solidFill>
          <a:ln w="12700">
            <a:solidFill>
              <a:srgbClr val="CDB8F8"/>
            </a:solidFill>
            <a:prstDash val="solid"/>
          </a:ln>
        </p:spPr>
      </p:sp>
      <p:sp>
        <p:nvSpPr>
          <p:cNvPr id="18" name="seta 3"/>
          <p:cNvSpPr txBox="1"/>
          <p:nvPr/>
        </p:nvSpPr>
        <p:spPr>
          <a:xfrm>
            <a:off x="4370832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1A2E"/>
                </a:solidFill>
              </a:rPr>
              <a:t>→</a:t>
            </a:r>
            <a:endParaRPr lang="en-US" sz="1000" dirty="0"/>
          </a:p>
        </p:txBody>
      </p:sp>
      <p:sp>
        <p:nvSpPr>
          <p:cNvPr id="19" name="alívio 3"/>
          <p:cNvSpPr txBox="1"/>
          <p:nvPr/>
        </p:nvSpPr>
        <p:spPr>
          <a:xfrm>
            <a:off x="4846320" y="287121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julga. Dá para dizer que o dia foi vazio sem virar preocupação.</a:t>
            </a:r>
            <a:endParaRPr lang="en-US" sz="1250" dirty="0"/>
          </a:p>
        </p:txBody>
      </p:sp>
      <p:sp>
        <p:nvSpPr>
          <p:cNvPr id="20" name="par 4"/>
          <p:cNvSpPr/>
          <p:nvPr/>
        </p:nvSpPr>
        <p:spPr>
          <a:xfrm>
            <a:off x="548640" y="3483864"/>
            <a:ext cx="804672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21" name="dor 4"/>
          <p:cNvSpPr txBox="1"/>
          <p:nvPr/>
        </p:nvSpPr>
        <p:spPr>
          <a:xfrm>
            <a:off x="731520" y="348386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5A70"/>
                </a:solidFill>
              </a:rPr>
              <a:t>Tecnologia que exige digitar, tocar no lugar certo, entender menu.</a:t>
            </a:r>
            <a:endParaRPr lang="en-US" sz="1150" dirty="0"/>
          </a:p>
        </p:txBody>
      </p:sp>
      <p:sp>
        <p:nvSpPr>
          <p:cNvPr id="22" name="ponto 19"/>
          <p:cNvSpPr/>
          <p:nvPr/>
        </p:nvSpPr>
        <p:spPr>
          <a:xfrm>
            <a:off x="4370832" y="3630168"/>
            <a:ext cx="256032" cy="256032"/>
          </a:xfrm>
          <a:prstGeom prst="ellipse">
            <a:avLst/>
          </a:prstGeom>
          <a:solidFill>
            <a:srgbClr val="A4DFF8"/>
          </a:solidFill>
          <a:ln w="12700">
            <a:solidFill>
              <a:srgbClr val="A4DFF8"/>
            </a:solidFill>
            <a:prstDash val="solid"/>
          </a:ln>
        </p:spPr>
      </p:sp>
      <p:sp>
        <p:nvSpPr>
          <p:cNvPr id="23" name="seta 4"/>
          <p:cNvSpPr txBox="1"/>
          <p:nvPr/>
        </p:nvSpPr>
        <p:spPr>
          <a:xfrm>
            <a:off x="4370832" y="3630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1A2E"/>
                </a:solidFill>
              </a:rPr>
              <a:t>→</a:t>
            </a:r>
            <a:endParaRPr lang="en-US" sz="1000" dirty="0"/>
          </a:p>
        </p:txBody>
      </p:sp>
      <p:sp>
        <p:nvSpPr>
          <p:cNvPr id="24" name="alívio 4"/>
          <p:cNvSpPr txBox="1"/>
          <p:nvPr/>
        </p:nvSpPr>
        <p:spPr>
          <a:xfrm>
            <a:off x="4846320" y="348386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Fala, não digita. Feita para quem tem 70 anos ou mais.</a:t>
            </a:r>
            <a:endParaRPr lang="en-US" sz="1250" dirty="0"/>
          </a:p>
        </p:txBody>
      </p:sp>
      <p:sp>
        <p:nvSpPr>
          <p:cNvPr id="25" name="par 5"/>
          <p:cNvSpPr/>
          <p:nvPr/>
        </p:nvSpPr>
        <p:spPr>
          <a:xfrm>
            <a:off x="548640" y="4096512"/>
            <a:ext cx="804672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26" name="dor 5"/>
          <p:cNvSpPr txBox="1"/>
          <p:nvPr/>
        </p:nvSpPr>
        <p:spPr>
          <a:xfrm>
            <a:off x="731520" y="409651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5A70"/>
                </a:solidFill>
              </a:rPr>
              <a:t>A ligação de domingo que termina em “está tudo bem”. A culpa, a dúvida.</a:t>
            </a:r>
            <a:endParaRPr lang="en-US" sz="1150" dirty="0"/>
          </a:p>
        </p:txBody>
      </p:sp>
      <p:sp>
        <p:nvSpPr>
          <p:cNvPr id="27" name="ponto 20"/>
          <p:cNvSpPr/>
          <p:nvPr/>
        </p:nvSpPr>
        <p:spPr>
          <a:xfrm>
            <a:off x="4370832" y="4242816"/>
            <a:ext cx="256032" cy="256032"/>
          </a:xfrm>
          <a:prstGeom prst="ellipse">
            <a:avLst/>
          </a:prstGeom>
          <a:solidFill>
            <a:srgbClr val="BDF2DE"/>
          </a:solidFill>
          <a:ln w="12700">
            <a:solidFill>
              <a:srgbClr val="BDF2DE"/>
            </a:solidFill>
            <a:prstDash val="solid"/>
          </a:ln>
        </p:spPr>
      </p:sp>
      <p:sp>
        <p:nvSpPr>
          <p:cNvPr id="28" name="seta 5"/>
          <p:cNvSpPr txBox="1"/>
          <p:nvPr/>
        </p:nvSpPr>
        <p:spPr>
          <a:xfrm>
            <a:off x="4370832" y="4242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1A2E"/>
                </a:solidFill>
              </a:rPr>
              <a:t>→</a:t>
            </a:r>
            <a:endParaRPr lang="en-US" sz="1000" dirty="0"/>
          </a:p>
        </p:txBody>
      </p:sp>
      <p:sp>
        <p:nvSpPr>
          <p:cNvPr id="29" name="alívio 5"/>
          <p:cNvSpPr txBox="1"/>
          <p:nvPr/>
        </p:nvSpPr>
        <p:spPr>
          <a:xfrm>
            <a:off x="4846320" y="409651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Avisa quando a rotina muda e lembra nomes, remédios e o papo de ontem.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173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231A2E"/>
                </a:solidFill>
              </a:rPr>
              <a:t>Quero ter com quem conversar todo dia, sem precisar pedir.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91A4"/>
                </a:solidFill>
              </a:rPr>
              <a:t>QUEM MORA SÓ · O TRABALHO QUE A LUME FAZ</a:t>
            </a:r>
            <a:endParaRPr lang="en-US" sz="1200" dirty="0"/>
          </a:p>
        </p:txBody>
      </p:sp>
      <p:sp>
        <p:nvSpPr>
          <p:cNvPr id="4" name="jtbd família"/>
          <p:cNvSpPr/>
          <p:nvPr/>
        </p:nvSpPr>
        <p:spPr>
          <a:xfrm>
            <a:off x="4206240" y="4069080"/>
            <a:ext cx="438912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5" name="jtbd família texto"/>
          <p:cNvSpPr txBox="1"/>
          <p:nvPr/>
        </p:nvSpPr>
        <p:spPr>
          <a:xfrm>
            <a:off x="434340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31A2E"/>
                </a:solidFill>
              </a:rPr>
              <a:t>“Quero saber que minha mãe está bem, sem transformar cada ligação num interrogatório.” </a:t>
            </a:r>
            <a:pPr indent="0" marL="0">
              <a:buNone/>
            </a:pPr>
            <a:r>
              <a:rPr lang="en-US" sz="900" b="1" dirty="0">
                <a:solidFill>
                  <a:srgbClr val="9A91A4"/>
                </a:solidFill>
              </a:rPr>
              <a:t>Quem paga · a filha ou o filho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31A2E"/>
                </a:solidFill>
              </a:rPr>
              <a:t>Uma ponte de volta para o mundo real</a:t>
            </a:r>
            <a:endParaRPr lang="en-US" sz="3000" dirty="0"/>
          </a:p>
        </p:txBody>
      </p:sp>
      <p:sp>
        <p:nvSpPr>
          <p:cNvPr id="3" name="tile LIGAÇÃO COM ASSUNTO PRONTO"/>
          <p:cNvSpPr/>
          <p:nvPr/>
        </p:nvSpPr>
        <p:spPr>
          <a:xfrm>
            <a:off x="548640" y="1417320"/>
            <a:ext cx="5212080" cy="1463040"/>
          </a:xfrm>
          <a:prstGeom prst="roundRect">
            <a:avLst>
              <a:gd name="adj" fmla="val 11250"/>
            </a:avLst>
          </a:prstGeom>
          <a:solidFill>
            <a:srgbClr val="FFE6D2"/>
          </a:solidFill>
          <a:ln w="9525">
            <a:solidFill>
              <a:srgbClr val="FFE6D2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4" name="tile texto LIGAÇÃO COM ASSUNTO PRONTO"/>
          <p:cNvSpPr txBox="1"/>
          <p:nvPr/>
        </p:nvSpPr>
        <p:spPr>
          <a:xfrm>
            <a:off x="749808" y="1554480"/>
            <a:ext cx="4809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55A70"/>
                </a:solidFill>
              </a:rPr>
              <a:t>LIGAÇÃO COM ASSUNTO PRONTO</a:t>
            </a:r>
            <a:endParaRPr lang="en-US" sz="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“Hoje é aniversário do Pedro. Quer ligar para a Marta e dar os parabéns?”</a:t>
            </a:r>
            <a:endParaRPr lang="en-US" sz="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655A70"/>
                </a:solidFill>
              </a:rPr>
              <a:t>Puxa a ligação para a filha com um gancho real. A conversa flui, em vez de terminar em “está tudo bem”.</a:t>
            </a:r>
            <a:endParaRPr lang="en-US" sz="800" dirty="0"/>
          </a:p>
        </p:txBody>
      </p:sp>
      <p:sp>
        <p:nvSpPr>
          <p:cNvPr id="5" name="tile VIDA DO BAIRRO"/>
          <p:cNvSpPr/>
          <p:nvPr/>
        </p:nvSpPr>
        <p:spPr>
          <a:xfrm>
            <a:off x="5943600" y="1417320"/>
            <a:ext cx="2651760" cy="1463040"/>
          </a:xfrm>
          <a:prstGeom prst="roundRect">
            <a:avLst>
              <a:gd name="adj" fmla="val 11250"/>
            </a:avLst>
          </a:prstGeom>
          <a:solidFill>
            <a:srgbClr val="ECE3FB"/>
          </a:solidFill>
          <a:ln w="9525">
            <a:solidFill>
              <a:srgbClr val="ECE3FB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6" name="tile texto VIDA DO BAIRRO"/>
          <p:cNvSpPr txBox="1"/>
          <p:nvPr/>
        </p:nvSpPr>
        <p:spPr>
          <a:xfrm>
            <a:off x="6144768" y="155448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55A70"/>
                </a:solidFill>
              </a:rPr>
              <a:t>VIDA DO BAIRRO</a:t>
            </a:r>
            <a:endParaRPr lang="en-US" sz="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Lembra da missa, do grupo, da feira.</a:t>
            </a:r>
            <a:endParaRPr lang="en-US" sz="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655A70"/>
                </a:solidFill>
              </a:rPr>
              <a:t>Compromissos que tiram de casa e devolvem ao convívio.</a:t>
            </a:r>
            <a:endParaRPr lang="en-US" sz="800" dirty="0"/>
          </a:p>
        </p:txBody>
      </p:sp>
      <p:sp>
        <p:nvSpPr>
          <p:cNvPr id="7" name="tile SER OUVIDO"/>
          <p:cNvSpPr/>
          <p:nvPr/>
        </p:nvSpPr>
        <p:spPr>
          <a:xfrm>
            <a:off x="548640" y="3017520"/>
            <a:ext cx="2514600" cy="1463040"/>
          </a:xfrm>
          <a:prstGeom prst="roundRect">
            <a:avLst>
              <a:gd name="adj" fmla="val 11250"/>
            </a:avLst>
          </a:prstGeom>
          <a:solidFill>
            <a:srgbClr val="DDF2FC"/>
          </a:solidFill>
          <a:ln w="9525">
            <a:solidFill>
              <a:srgbClr val="DDF2F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8" name="tile texto SER OUVIDO"/>
          <p:cNvSpPr txBox="1"/>
          <p:nvPr/>
        </p:nvSpPr>
        <p:spPr>
          <a:xfrm>
            <a:off x="749808" y="3154680"/>
            <a:ext cx="2112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55A70"/>
                </a:solidFill>
              </a:rPr>
              <a:t>SER OUVIDO</a:t>
            </a:r>
            <a:endParaRPr lang="en-US" sz="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Alguém que ouve quando a senhora precisa.</a:t>
            </a:r>
            <a:endParaRPr lang="en-US" sz="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655A70"/>
                </a:solidFill>
              </a:rPr>
              <a:t>Não quando dá tempo, não quando alguém lembra.</a:t>
            </a:r>
            <a:endParaRPr lang="en-US" sz="800" dirty="0"/>
          </a:p>
        </p:txBody>
      </p:sp>
      <p:sp>
        <p:nvSpPr>
          <p:cNvPr id="9" name="tile PERTENCER"/>
          <p:cNvSpPr/>
          <p:nvPr/>
        </p:nvSpPr>
        <p:spPr>
          <a:xfrm>
            <a:off x="3246120" y="3017520"/>
            <a:ext cx="2514600" cy="1463040"/>
          </a:xfrm>
          <a:prstGeom prst="roundRect">
            <a:avLst>
              <a:gd name="adj" fmla="val 11250"/>
            </a:avLst>
          </a:prstGeom>
          <a:solidFill>
            <a:srgbClr val="E3F8EE"/>
          </a:solidFill>
          <a:ln w="9525">
            <a:solidFill>
              <a:srgbClr val="E3F8EE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10" name="tile texto PERTENCER"/>
          <p:cNvSpPr txBox="1"/>
          <p:nvPr/>
        </p:nvSpPr>
        <p:spPr>
          <a:xfrm>
            <a:off x="3447288" y="3154680"/>
            <a:ext cx="2112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55A70"/>
                </a:solidFill>
              </a:rPr>
              <a:t>PERTENCER</a:t>
            </a:r>
            <a:endParaRPr lang="en-US" sz="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da família, não um encargo.</a:t>
            </a:r>
            <a:endParaRPr lang="en-US" sz="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655A70"/>
                </a:solidFill>
              </a:rPr>
              <a:t>Chegar na ligação com novidades, e não só com perguntas.</a:t>
            </a:r>
            <a:endParaRPr lang="en-US" sz="800" dirty="0"/>
          </a:p>
        </p:txBody>
      </p:sp>
      <p:sp>
        <p:nvSpPr>
          <p:cNvPr id="11" name="tile CUIDADO A TEMPO"/>
          <p:cNvSpPr/>
          <p:nvPr/>
        </p:nvSpPr>
        <p:spPr>
          <a:xfrm>
            <a:off x="5943600" y="3017520"/>
            <a:ext cx="2651760" cy="1463040"/>
          </a:xfrm>
          <a:prstGeom prst="roundRect">
            <a:avLst>
              <a:gd name="adj" fmla="val 11250"/>
            </a:avLst>
          </a:prstGeom>
          <a:solidFill>
            <a:srgbClr val="FBE1F0"/>
          </a:solidFill>
          <a:ln w="9525">
            <a:solidFill>
              <a:srgbClr val="FBE1F0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12" name="tile texto CUIDADO A TEMPO"/>
          <p:cNvSpPr txBox="1"/>
          <p:nvPr/>
        </p:nvSpPr>
        <p:spPr>
          <a:xfrm>
            <a:off x="6144768" y="315468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55A70"/>
                </a:solidFill>
              </a:rPr>
              <a:t>CUIDADO A TEMPO</a:t>
            </a:r>
            <a:endParaRPr lang="en-US" sz="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sinal de risco, encaminha a um profissional.</a:t>
            </a:r>
            <a:endParaRPr lang="en-US" sz="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655A70"/>
                </a:solidFill>
              </a:rPr>
              <a:t>E avisa a família antes de o problema virar problema.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31A2E"/>
                </a:solidFill>
              </a:rPr>
              <a:t>Saber que ela está bem, sem interrogatório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655A70"/>
                </a:solidFill>
              </a:rPr>
              <a:t>Toda segunda, um resumo chega no WhatsApp dos filhos sem ninguém pedir. Quando a rotina sai do padrão, a lume avisa na hora.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55A70"/>
                </a:solidFill>
              </a:rPr>
              <a:t>Resumo semanal com o que importa, em linguagem de família.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55A70"/>
                </a:solidFill>
              </a:rPr>
              <a:t>Aviso quando a rotina muda: conversas não atendidas, humor diferente, remédio esquecido.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55A70"/>
                </a:solidFill>
              </a:rPr>
              <a:t>Encaminhamento a um profissional em sinal de risco.</a:t>
            </a:r>
            <a:endParaRPr lang="en-US" sz="1600" dirty="0"/>
          </a:p>
        </p:txBody>
      </p:sp>
      <p:sp>
        <p:nvSpPr>
          <p:cNvPr id="4" name="whatsapp"/>
          <p:cNvSpPr/>
          <p:nvPr/>
        </p:nvSpPr>
        <p:spPr>
          <a:xfrm>
            <a:off x="4754880" y="1463040"/>
            <a:ext cx="3840480" cy="3017520"/>
          </a:xfrm>
          <a:prstGeom prst="roundRect">
            <a:avLst>
              <a:gd name="adj" fmla="val 5455"/>
            </a:avLst>
          </a:prstGeom>
          <a:solidFill>
            <a:srgbClr val="EFE4DA"/>
          </a:solidFill>
          <a:ln w="9525">
            <a:solidFill>
              <a:srgbClr val="EFE4DA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5" name="wa meta"/>
          <p:cNvSpPr txBox="1"/>
          <p:nvPr/>
        </p:nvSpPr>
        <p:spPr>
          <a:xfrm>
            <a:off x="4754880" y="15727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55A70"/>
                </a:solidFill>
              </a:rPr>
              <a:t>SEGUNDA-FEIRA · RESUMO DA SEMANA DA DONA LÚCIA</a:t>
            </a:r>
            <a:endParaRPr lang="en-US" sz="800" dirty="0"/>
          </a:p>
        </p:txBody>
      </p:sp>
      <p:sp>
        <p:nvSpPr>
          <p:cNvPr id="6" name="wa balão"/>
          <p:cNvSpPr/>
          <p:nvPr/>
        </p:nvSpPr>
        <p:spPr>
          <a:xfrm>
            <a:off x="4937760" y="187452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wa texto"/>
          <p:cNvSpPr txBox="1"/>
          <p:nvPr/>
        </p:nvSpPr>
        <p:spPr>
          <a:xfrm>
            <a:off x="5074920" y="1938528"/>
            <a:ext cx="320040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A4FBF"/>
                </a:solidFill>
              </a:rPr>
              <a:t>lume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31A2E"/>
                </a:solidFill>
              </a:rPr>
              <a:t>🗣️ Conversamos em 6 dos 7 dias, uns 14 minutos por vez. Ela estava animada na quinta: falou do Pedro o tempo todo.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31A2E"/>
                </a:solidFill>
              </a:rPr>
              <a:t>📞 Ligou 3 vezes para a família. Na semana passada tinha sido uma.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31A2E"/>
                </a:solidFill>
              </a:rPr>
              <a:t>🧺 Foi à feira no sábado com a vizinha, como tinha combinado.</a:t>
            </a:r>
            <a:endParaRPr lang="en-US" sz="9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31A2E"/>
                </a:solidFill>
              </a:rPr>
              <a:t>💊 Esqueceu o remédio da pressão na terça. Reforcei o lembrete das seis.</a:t>
            </a:r>
            <a:endParaRPr lang="en-US" sz="900" dirty="0"/>
          </a:p>
        </p:txBody>
      </p:sp>
      <p:sp>
        <p:nvSpPr>
          <p:cNvPr id="8" name="wa resposta"/>
          <p:cNvSpPr/>
          <p:nvPr/>
        </p:nvSpPr>
        <p:spPr>
          <a:xfrm>
            <a:off x="6035040" y="4041648"/>
            <a:ext cx="2377440" cy="329184"/>
          </a:xfrm>
          <a:prstGeom prst="roundRect">
            <a:avLst>
              <a:gd name="adj" fmla="val 33333"/>
            </a:avLst>
          </a:prstGeom>
          <a:solidFill>
            <a:srgbClr val="DDF5E4"/>
          </a:solidFill>
          <a:ln w="12700">
            <a:solidFill>
              <a:srgbClr val="DDF5E4"/>
            </a:solidFill>
            <a:prstDash val="solid"/>
          </a:ln>
        </p:spPr>
      </p:sp>
      <p:sp>
        <p:nvSpPr>
          <p:cNvPr id="9" name="wa resposta texto"/>
          <p:cNvSpPr txBox="1"/>
          <p:nvPr/>
        </p:nvSpPr>
        <p:spPr>
          <a:xfrm>
            <a:off x="6126480" y="40416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1A2E"/>
                </a:solidFill>
              </a:rPr>
              <a:t>Obrigada! Vou ligar pra ela hoje à noite 💛</a:t>
            </a:r>
            <a:endParaRPr lang="en-US" sz="1000" dirty="0"/>
          </a:p>
        </p:txBody>
      </p:sp>
      <p:sp>
        <p:nvSpPr>
          <p:cNvPr id="10" name="Text 0"/>
          <p:cNvSpPr/>
          <p:nvPr>
            <p:ph idx="102" type="body" hasCustomPrompt="1"/>
          </p:nvPr>
        </p:nvSpPr>
        <p:spPr>
          <a:xfrm>
            <a:off x="4754880" y="14630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31A2E"/>
                </a:solidFill>
              </a:rPr>
              <a:t>Uma assinatura para a família toda</a:t>
            </a:r>
            <a:endParaRPr lang="en-US" sz="3000" dirty="0"/>
          </a:p>
        </p:txBody>
      </p:sp>
      <p:sp>
        <p:nvSpPr>
          <p:cNvPr id="3" name="subtítulo planos"/>
          <p:cNvSpPr txBox="1"/>
          <p:nvPr/>
        </p:nvSpPr>
        <p:spPr>
          <a:xfrm>
            <a:off x="548640" y="1325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5A70"/>
                </a:solidFill>
              </a:rPr>
              <a:t>Quem decide e paga é o filho. Quem usa é a mãe, no tablet que já tem em casa.</a:t>
            </a:r>
            <a:endParaRPr lang="en-US" sz="1400" dirty="0"/>
          </a:p>
        </p:txBody>
      </p:sp>
      <p:sp>
        <p:nvSpPr>
          <p:cNvPr id="4" name="painel planos"/>
          <p:cNvSpPr/>
          <p:nvPr/>
        </p:nvSpPr>
        <p:spPr>
          <a:xfrm>
            <a:off x="548640" y="1828800"/>
            <a:ext cx="8046720" cy="265176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E6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231A2E">
                <a:alpha val="8000"/>
              </a:srgbClr>
            </a:outerShdw>
          </a:effectLst>
        </p:spPr>
      </p:sp>
      <p:sp>
        <p:nvSpPr>
          <p:cNvPr id="5" name="plano nome"/>
          <p:cNvSpPr txBox="1"/>
          <p:nvPr/>
        </p:nvSpPr>
        <p:spPr>
          <a:xfrm>
            <a:off x="868680" y="2057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Assinatura familiar</a:t>
            </a:r>
            <a:endParaRPr lang="en-US" sz="2000" dirty="0"/>
          </a:p>
        </p:txBody>
      </p:sp>
      <p:sp>
        <p:nvSpPr>
          <p:cNvPr id="6" name="plano preço"/>
          <p:cNvSpPr txBox="1"/>
          <p:nvPr/>
        </p:nvSpPr>
        <p:spPr>
          <a:xfrm>
            <a:off x="868680" y="2514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23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1º mês grátis</a:t>
            </a:r>
            <a:endParaRPr lang="en-US" sz="3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55A70"/>
                </a:solidFill>
              </a:rPr>
              <a:t>depois, mensalidade familiar</a:t>
            </a:r>
            <a:endParaRPr lang="en-US" sz="3000" dirty="0"/>
          </a:p>
        </p:txBody>
      </p:sp>
      <p:sp>
        <p:nvSpPr>
          <p:cNvPr id="7" name="plano nota"/>
          <p:cNvSpPr txBox="1"/>
          <p:nvPr/>
        </p:nvSpPr>
        <p:spPr>
          <a:xfrm>
            <a:off x="868680" y="3520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1A4"/>
                </a:solidFill>
              </a:rPr>
              <a:t>Pela tranquilidade que hoje só uma acompanhante entrega, por uma fração do custo de poucas horas dela por semana.</a:t>
            </a:r>
            <a:endParaRPr lang="en-US" sz="1100" dirty="0"/>
          </a:p>
        </p:txBody>
      </p:sp>
      <p:sp>
        <p:nvSpPr>
          <p:cNvPr id="8" name="ponto 21"/>
          <p:cNvSpPr/>
          <p:nvPr/>
        </p:nvSpPr>
        <p:spPr>
          <a:xfrm>
            <a:off x="4572000" y="2139696"/>
            <a:ext cx="182880" cy="182880"/>
          </a:xfrm>
          <a:prstGeom prst="ellipse">
            <a:avLst/>
          </a:prstGeom>
          <a:solidFill>
            <a:srgbClr val="FFC59E"/>
          </a:solidFill>
          <a:ln w="12700">
            <a:solidFill>
              <a:srgbClr val="FFC59E"/>
            </a:solidFill>
            <a:prstDash val="solid"/>
          </a:ln>
        </p:spPr>
      </p:sp>
      <p:sp>
        <p:nvSpPr>
          <p:cNvPr id="9" name="check"/>
          <p:cNvSpPr txBox="1"/>
          <p:nvPr/>
        </p:nvSpPr>
        <p:spPr>
          <a:xfrm>
            <a:off x="4572000" y="2139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1A2E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item"/>
          <p:cNvSpPr txBox="1"/>
          <p:nvPr/>
        </p:nvSpPr>
        <p:spPr>
          <a:xfrm>
            <a:off x="4864608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A2E"/>
                </a:solidFill>
              </a:rPr>
              <a:t>Conversas diárias por vídeo ou voz, sem limite de tempo</a:t>
            </a:r>
            <a:endParaRPr lang="en-US" sz="1300" dirty="0"/>
          </a:p>
        </p:txBody>
      </p:sp>
      <p:sp>
        <p:nvSpPr>
          <p:cNvPr id="11" name="ponto 22"/>
          <p:cNvSpPr/>
          <p:nvPr/>
        </p:nvSpPr>
        <p:spPr>
          <a:xfrm>
            <a:off x="4572000" y="2569464"/>
            <a:ext cx="182880" cy="182880"/>
          </a:xfrm>
          <a:prstGeom prst="ellipse">
            <a:avLst/>
          </a:prstGeom>
          <a:solidFill>
            <a:srgbClr val="F6AFD9"/>
          </a:solidFill>
          <a:ln w="12700">
            <a:solidFill>
              <a:srgbClr val="F6AFD9"/>
            </a:solidFill>
            <a:prstDash val="solid"/>
          </a:ln>
        </p:spPr>
      </p:sp>
      <p:sp>
        <p:nvSpPr>
          <p:cNvPr id="12" name="check"/>
          <p:cNvSpPr txBox="1"/>
          <p:nvPr/>
        </p:nvSpPr>
        <p:spPr>
          <a:xfrm>
            <a:off x="4572000" y="2569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1A2E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item"/>
          <p:cNvSpPr txBox="1"/>
          <p:nvPr/>
        </p:nvSpPr>
        <p:spPr>
          <a:xfrm>
            <a:off x="4864608" y="2532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A2E"/>
                </a:solidFill>
              </a:rPr>
              <a:t>Companheira com nome, rosto e voz escolhidos junto com ela</a:t>
            </a:r>
            <a:endParaRPr lang="en-US" sz="1300" dirty="0"/>
          </a:p>
        </p:txBody>
      </p:sp>
      <p:sp>
        <p:nvSpPr>
          <p:cNvPr id="14" name="ponto 23"/>
          <p:cNvSpPr/>
          <p:nvPr/>
        </p:nvSpPr>
        <p:spPr>
          <a:xfrm>
            <a:off x="4572000" y="2999232"/>
            <a:ext cx="182880" cy="182880"/>
          </a:xfrm>
          <a:prstGeom prst="ellipse">
            <a:avLst/>
          </a:prstGeom>
          <a:solidFill>
            <a:srgbClr val="CDB8F8"/>
          </a:solidFill>
          <a:ln w="12700">
            <a:solidFill>
              <a:srgbClr val="CDB8F8"/>
            </a:solidFill>
            <a:prstDash val="solid"/>
          </a:ln>
        </p:spPr>
      </p:sp>
      <p:sp>
        <p:nvSpPr>
          <p:cNvPr id="15" name="check"/>
          <p:cNvSpPr txBox="1"/>
          <p:nvPr/>
        </p:nvSpPr>
        <p:spPr>
          <a:xfrm>
            <a:off x="4572000" y="29992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1A2E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item"/>
          <p:cNvSpPr txBox="1"/>
          <p:nvPr/>
        </p:nvSpPr>
        <p:spPr>
          <a:xfrm>
            <a:off x="4864608" y="2962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A2E"/>
                </a:solidFill>
              </a:rPr>
              <a:t>Modo Família com resumo semanal e avisos</a:t>
            </a:r>
            <a:endParaRPr lang="en-US" sz="1300" dirty="0"/>
          </a:p>
        </p:txBody>
      </p:sp>
      <p:sp>
        <p:nvSpPr>
          <p:cNvPr id="17" name="ponto 24"/>
          <p:cNvSpPr/>
          <p:nvPr/>
        </p:nvSpPr>
        <p:spPr>
          <a:xfrm>
            <a:off x="4572000" y="3429000"/>
            <a:ext cx="182880" cy="182880"/>
          </a:xfrm>
          <a:prstGeom prst="ellipse">
            <a:avLst/>
          </a:prstGeom>
          <a:solidFill>
            <a:srgbClr val="A4DFF8"/>
          </a:solidFill>
          <a:ln w="12700">
            <a:solidFill>
              <a:srgbClr val="A4DFF8"/>
            </a:solidFill>
            <a:prstDash val="solid"/>
          </a:ln>
        </p:spPr>
      </p:sp>
      <p:sp>
        <p:nvSpPr>
          <p:cNvPr id="18" name="check"/>
          <p:cNvSpPr txBox="1"/>
          <p:nvPr/>
        </p:nvSpPr>
        <p:spPr>
          <a:xfrm>
            <a:off x="4572000" y="3429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1A2E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item"/>
          <p:cNvSpPr txBox="1"/>
          <p:nvPr/>
        </p:nvSpPr>
        <p:spPr>
          <a:xfrm>
            <a:off x="4864608" y="3392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A2E"/>
                </a:solidFill>
              </a:rPr>
              <a:t>Instalação assistida no tablet, numa visita de fim de semana</a:t>
            </a:r>
            <a:endParaRPr lang="en-US" sz="1300" dirty="0"/>
          </a:p>
        </p:txBody>
      </p:sp>
      <p:sp>
        <p:nvSpPr>
          <p:cNvPr id="20" name="ponto 25"/>
          <p:cNvSpPr/>
          <p:nvPr/>
        </p:nvSpPr>
        <p:spPr>
          <a:xfrm>
            <a:off x="4572000" y="3858768"/>
            <a:ext cx="182880" cy="182880"/>
          </a:xfrm>
          <a:prstGeom prst="ellipse">
            <a:avLst/>
          </a:prstGeom>
          <a:solidFill>
            <a:srgbClr val="BDF2DE"/>
          </a:solidFill>
          <a:ln w="12700">
            <a:solidFill>
              <a:srgbClr val="BDF2DE"/>
            </a:solidFill>
            <a:prstDash val="solid"/>
          </a:ln>
        </p:spPr>
      </p:sp>
      <p:sp>
        <p:nvSpPr>
          <p:cNvPr id="21" name="check"/>
          <p:cNvSpPr txBox="1"/>
          <p:nvPr/>
        </p:nvSpPr>
        <p:spPr>
          <a:xfrm>
            <a:off x="4572000" y="3858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1A2E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item"/>
          <p:cNvSpPr txBox="1"/>
          <p:nvPr/>
        </p:nvSpPr>
        <p:spPr>
          <a:xfrm>
            <a:off x="4864608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A2E"/>
                </a:solidFill>
              </a:rPr>
              <a:t>Cancele quando quiser, pelo site ou pelo WhatsApp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1A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BF8F4"/>
                </a:solidFill>
              </a:rPr>
              <a:t>Companhia de verdade, sem fingir ser gente</a:t>
            </a:r>
            <a:endParaRPr lang="en-US" sz="3000" dirty="0"/>
          </a:p>
        </p:txBody>
      </p:sp>
      <p:sp>
        <p:nvSpPr>
          <p:cNvPr id="3" name="não 1"/>
          <p:cNvSpPr txBox="1"/>
          <p:nvPr/>
        </p:nvSpPr>
        <p:spPr>
          <a:xfrm>
            <a:off x="54864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59E"/>
                </a:solidFill>
              </a:rPr>
              <a:t>NÃO</a:t>
            </a:r>
            <a:endParaRPr lang="en-US" sz="2400" dirty="0"/>
          </a:p>
        </p:txBody>
      </p:sp>
      <p:sp>
        <p:nvSpPr>
          <p:cNvPr id="4" name="não texto 1"/>
          <p:cNvSpPr txBox="1"/>
          <p:nvPr/>
        </p:nvSpPr>
        <p:spPr>
          <a:xfrm>
            <a:off x="1645920" y="146304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B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finge ser humana.</a:t>
            </a:r>
            <a:endParaRPr lang="en-US" sz="2000" dirty="0"/>
          </a:p>
          <a:p>
            <a:pPr indent="0" marL="0">
              <a:buNone/>
            </a:pPr>
            <a:r>
              <a:rPr lang="en-US" sz="1150" dirty="0">
                <a:solidFill>
                  <a:srgbClr val="D6CFEA"/>
                </a:solidFill>
              </a:rPr>
              <a:t>Sua mãe e você sempre sabem que é uma companheira virtual.</a:t>
            </a:r>
            <a:endParaRPr lang="en-US" sz="2000" dirty="0"/>
          </a:p>
        </p:txBody>
      </p:sp>
      <p:sp>
        <p:nvSpPr>
          <p:cNvPr id="5" name="não 2"/>
          <p:cNvSpPr txBox="1"/>
          <p:nvPr/>
        </p:nvSpPr>
        <p:spPr>
          <a:xfrm>
            <a:off x="548640" y="223113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59E"/>
                </a:solidFill>
              </a:rPr>
              <a:t>NÃO</a:t>
            </a:r>
            <a:endParaRPr lang="en-US" sz="2400" dirty="0"/>
          </a:p>
        </p:txBody>
      </p:sp>
      <p:sp>
        <p:nvSpPr>
          <p:cNvPr id="6" name="não texto 2"/>
          <p:cNvSpPr txBox="1"/>
          <p:nvPr/>
        </p:nvSpPr>
        <p:spPr>
          <a:xfrm>
            <a:off x="1645920" y="2231136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B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maximiza tempo de tela.</a:t>
            </a:r>
            <a:endParaRPr lang="en-US" sz="2000" dirty="0"/>
          </a:p>
          <a:p>
            <a:pPr indent="0" marL="0">
              <a:buNone/>
            </a:pPr>
            <a:r>
              <a:rPr lang="en-US" sz="1150" dirty="0">
                <a:solidFill>
                  <a:srgbClr val="D6CFEA"/>
                </a:solidFill>
              </a:rPr>
              <a:t>A métrica que importa é quantas vezes ela ligou para a família nesta semana.</a:t>
            </a:r>
            <a:endParaRPr lang="en-US" sz="2000" dirty="0"/>
          </a:p>
        </p:txBody>
      </p:sp>
      <p:sp>
        <p:nvSpPr>
          <p:cNvPr id="7" name="não 3"/>
          <p:cNvSpPr txBox="1"/>
          <p:nvPr/>
        </p:nvSpPr>
        <p:spPr>
          <a:xfrm>
            <a:off x="548640" y="29992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59E"/>
                </a:solidFill>
              </a:rPr>
              <a:t>NÃO</a:t>
            </a:r>
            <a:endParaRPr lang="en-US" sz="2400" dirty="0"/>
          </a:p>
        </p:txBody>
      </p:sp>
      <p:sp>
        <p:nvSpPr>
          <p:cNvPr id="8" name="não texto 3"/>
          <p:cNvSpPr txBox="1"/>
          <p:nvPr/>
        </p:nvSpPr>
        <p:spPr>
          <a:xfrm>
            <a:off x="1645920" y="2999232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B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substitui a família.</a:t>
            </a:r>
            <a:endParaRPr lang="en-US" sz="2000" dirty="0"/>
          </a:p>
          <a:p>
            <a:pPr indent="0" marL="0">
              <a:buNone/>
            </a:pPr>
            <a:r>
              <a:rPr lang="en-US" sz="1150" dirty="0">
                <a:solidFill>
                  <a:srgbClr val="D6CFEA"/>
                </a:solidFill>
              </a:rPr>
              <a:t>Devolve sua mãe ao convívio, com assunto pronto e vontade de ligar.</a:t>
            </a:r>
            <a:endParaRPr lang="en-US" sz="2000" dirty="0"/>
          </a:p>
        </p:txBody>
      </p:sp>
      <p:sp>
        <p:nvSpPr>
          <p:cNvPr id="9" name="não 4"/>
          <p:cNvSpPr txBox="1"/>
          <p:nvPr/>
        </p:nvSpPr>
        <p:spPr>
          <a:xfrm>
            <a:off x="548640" y="37673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59E"/>
                </a:solidFill>
              </a:rPr>
              <a:t>NÃO</a:t>
            </a:r>
            <a:endParaRPr lang="en-US" sz="2400" dirty="0"/>
          </a:p>
        </p:txBody>
      </p:sp>
      <p:sp>
        <p:nvSpPr>
          <p:cNvPr id="10" name="não texto 4"/>
          <p:cNvSpPr txBox="1"/>
          <p:nvPr/>
        </p:nvSpPr>
        <p:spPr>
          <a:xfrm>
            <a:off x="1645920" y="3767328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BF8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guarda segredo em sinal de risco.</a:t>
            </a:r>
            <a:endParaRPr lang="en-US" sz="2000" dirty="0"/>
          </a:p>
          <a:p>
            <a:pPr indent="0" marL="0">
              <a:buNone/>
            </a:pPr>
            <a:r>
              <a:rPr lang="en-US" sz="1150" dirty="0">
                <a:solidFill>
                  <a:srgbClr val="D6CFEA"/>
                </a:solidFill>
              </a:rPr>
              <a:t>Encaminha a um profissional e avisa quem precisa saber.</a:t>
            </a:r>
            <a:endParaRPr lang="en-US" sz="20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AF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18745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BF8F4"/>
                </a:solidFill>
              </a:rPr>
              <a:t>Uma boa conversa todo dia para quem mora só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371600" y="3154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CFE3"/>
                </a:solidFill>
              </a:rPr>
              <a:t>Comece o primeiro mês grátis. A gente instala no tablet dela e, no fim de tarde seguinte, a lume liga.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me">
  <a:themeElements>
    <a:clrScheme name="lume">
      <a:dk1>
        <a:srgbClr val="231A2E"/>
      </a:dk1>
      <a:lt1>
        <a:srgbClr val="FFFFFF"/>
      </a:lt1>
      <a:dk2>
        <a:srgbClr val="655A70"/>
      </a:dk2>
      <a:lt2>
        <a:srgbClr val="F3EEE9"/>
      </a:lt2>
      <a:accent1>
        <a:srgbClr val="FFC59E"/>
      </a:accent1>
      <a:accent2>
        <a:srgbClr val="F6AFD9"/>
      </a:accent2>
      <a:accent3>
        <a:srgbClr val="CDB8F8"/>
      </a:accent3>
      <a:accent4>
        <a:srgbClr val="A4DFF8"/>
      </a:accent4>
      <a:accent5>
        <a:srgbClr val="BDF2DE"/>
      </a:accent5>
      <a:accent6>
        <a:srgbClr val="4B3B92"/>
      </a:accent6>
      <a:hlink>
        <a:srgbClr val="6A4FBF"/>
      </a:hlink>
      <a:folHlink>
        <a:srgbClr val="6A4FBF"/>
      </a:folHlink>
    </a:clrScheme>
    <a:fontScheme name="lu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 · template de apresentação</dc:title>
  <dc:subject>Companheira por vídeo para quem mora só</dc:subject>
  <dc:creator>Projeto acadêmico ESPM</dc:creator>
  <cp:lastModifiedBy>Projeto acadêmico ESPM</cp:lastModifiedBy>
  <cp:revision>1</cp:revision>
  <dcterms:created xsi:type="dcterms:W3CDTF">2026-10-07T14:48:11Z</dcterms:created>
  <dcterms:modified xsi:type="dcterms:W3CDTF">2026-10-07T14:48:11Z</dcterms:modified>
</cp:coreProperties>
</file>