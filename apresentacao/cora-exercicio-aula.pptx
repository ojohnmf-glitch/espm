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rcício · Aula Produto 2" id="{89ad9d68-6864-22a0-fc33-44386680c67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Equação do Discovery (Aula 5): Protótipo + Cliente + Método, como nos exemplos Mercado iFood (1 supermercado, 1 bairro) e Camiseta Reserva (grupo de 200 clientes + mockup). A pré-venda via Pix é o teste mais honesto de disposição a pagar: “não é o que o cliente fala, é o que faz”. Risco legal/LGPD: áudio e dados de saúde de idoso são dados sensíveis — termo de consentimento do idoso e do filho já no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6: tabela com códigos salientes da categoria + grau de associação de cada player. Players substituem “fóruns/comunidades” (pouco relevante para 70+) por Alexa e centro de convivência/igreja, que são as alternativas reais do canvas. Referências a estudar antes da pesquisa: ElliQ (Intuition Robotics, EUA) e apps de companhia como Replika.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 no padrão da Aula 6 (Krispy Kreme: “Donuts fresquinhos todas as horas!”). Alternativa voltada ao pagador para campanha: “Sua mãe tem com quem conversar. Todo dia.” Preço: percorrer os degraus do EVC (percepção → comportamento → WTP → experimento) antes de fixar valor; “abaixo de uma cuidadora” não é âncora útil, porque a cuidadora custa milhares por mês. Renúncias (Aula 4, produtos autorais): não maximizar tempo de tela, não fingir ser humano; métrica-norte = ligações do idoso para a família, não minutos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DIVISORIA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UDO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DUAS_COLUNAS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M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CITACAO-image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CORAL-image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FECHAMENTO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BF6F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BF6F1"/>
                </a:solidFill>
              </a:rPr>
              <a:t>Equipe · disciplina · data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6000" b="1" dirty="0">
                <a:solidFill>
                  <a:srgbClr val="FC6B59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9456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FBF6F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FBF6F1"/>
                </a:solidFill>
              </a:rPr>
              <a:t>Nome da seção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4389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C9B8B0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C9B8B0"/>
                </a:solidFill>
              </a:rPr>
              <a:t>Uma frase sobre o que esta seção responde.</a:t>
            </a:r>
            <a:endParaRPr lang="en-US" sz="1500" dirty="0"/>
          </a:p>
        </p:txBody>
      </p:sp>
      <p:pic>
        <p:nvPicPr>
          <p:cNvPr id="5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B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B8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KICKER DA SEÇÃO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A1B18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Título do slide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B5A55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Clique para adicionar texto</a:t>
            </a:r>
            <a:endParaRPr lang="en-US" sz="1600" dirty="0"/>
          </a:p>
        </p:txBody>
      </p:sp>
      <p:pic>
        <p:nvPicPr>
          <p:cNvPr id="5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KICKER DA SEÇÃO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A1B18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Título do slide</a:t>
            </a:r>
            <a:endParaRPr lang="en-US" sz="2800" dirty="0"/>
          </a:p>
        </p:txBody>
      </p:sp>
      <p:pic>
        <p:nvPicPr>
          <p:cNvPr id="4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_COLUN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KICKER DA SEÇÃO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A1B18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Título do slide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B5A55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Coluna da esquerda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B5A55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5A55"/>
                </a:solidFill>
              </a:rPr>
              <a:t>Coluna da direita (texto ou imagem)</a:t>
            </a:r>
            <a:endParaRPr lang="en-US" sz="1600" dirty="0"/>
          </a:p>
        </p:txBody>
      </p:sp>
      <p:pic>
        <p:nvPicPr>
          <p:cNvPr id="6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KICKER DA SEÇÃO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A1B18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Título do slide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548640" y="1417320"/>
            <a:ext cx="8046720" cy="2788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6B5A55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6B5A55"/>
                </a:solidFill>
              </a:rPr>
              <a:t>Clique para adicionar uma imagem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79392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A39590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A39590"/>
                </a:solidFill>
              </a:rPr>
              <a:t>Legenda da imagem</a:t>
            </a:r>
            <a:endParaRPr lang="en-US" sz="1100" dirty="0"/>
          </a:p>
        </p:txBody>
      </p:sp>
      <p:pic>
        <p:nvPicPr>
          <p:cNvPr id="6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A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i="1" dirty="0">
                <a:solidFill>
                  <a:srgbClr val="2A1B18"/>
                </a:solidFill>
              </a:defRPr>
            </a:lvl1pPr>
          </a:lstStyle>
          <a:p>
            <a:pPr indent="0" marL="0">
              <a:buNone/>
            </a:pPr>
            <a:r>
              <a:rPr lang="en-US" sz="3000" i="1" dirty="0">
                <a:solidFill>
                  <a:srgbClr val="2A1B18"/>
                </a:solidFill>
              </a:rPr>
              <a:t>A frase que você quer que fique na cabeça de quem assiste.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FC6B59"/>
                </a:solidFill>
              </a:defRPr>
            </a:lvl1pPr>
          </a:lstStyle>
          <a:p>
            <a:pPr indent="0" marL="0">
              <a:buNone/>
            </a:pPr>
            <a:r>
              <a:rPr lang="en-US" sz="1100" b="1" spc="200" kern="0" dirty="0">
                <a:solidFill>
                  <a:srgbClr val="FC6B59"/>
                </a:solidFill>
              </a:rPr>
              <a:t>QUEM DISSE · CONTEXTO</a:t>
            </a:r>
            <a:endParaRPr lang="en-US" sz="1100" dirty="0"/>
          </a:p>
        </p:txBody>
      </p:sp>
      <p:pic>
        <p:nvPicPr>
          <p:cNvPr id="5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90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spm/4ada8e6d-90e3-5cae-a464-bc23024773ff/scratchpad/deck/cora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90872"/>
            <a:ext cx="914400" cy="235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CD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FFD9CD"/>
                </a:solidFill>
              </a:defRPr>
            </a:lvl1pPr>
          </a:lstStyle>
          <a:p>
            <a:pPr indent="0" marL="0">
              <a:buNone/>
            </a:pPr>
            <a:r>
              <a:rPr lang="en-US" sz="900" b="1" spc="200" kern="0" dirty="0">
                <a:solidFill>
                  <a:srgbClr val="FFD9CD"/>
                </a:solidFill>
              </a:rPr>
              <a:t>KICKER DA SEÇÃO</a:t>
            </a:r>
            <a:endParaRPr lang="en-US" sz="9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FBF6F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FBF6F1"/>
                </a:solidFill>
              </a:rPr>
              <a:t>Título do slide</a:t>
            </a:r>
            <a:endParaRPr lang="en-US" sz="2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FBF6F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BF6F1"/>
                </a:solidFill>
              </a:rPr>
              <a:t>Clique para adicionar texto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D9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spm/4ada8e6d-90e3-5cae-a464-bc23024773ff/scratchpad/deck/cor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219456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42062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dirty="0">
                <a:solidFill>
                  <a:srgbClr val="FBF6F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BF6F1"/>
                </a:solidFill>
              </a:rPr>
              <a:t>Frase de encerramento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3840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B8B0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C9B8B0"/>
                </a:solidFill>
              </a:rPr>
              <a:t>Agradecimento · contato · próximos passos</a:t>
            </a: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54864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8B0"/>
                </a:solidFill>
              </a:rPr>
              <a:t>Projeto acadêmico ESPM · Gestão de Produtos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B8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EXERCÍCIO 1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Problem Canvas</a:t>
            </a:r>
            <a:endParaRPr lang="en-US" sz="2800" dirty="0"/>
          </a:p>
        </p:txBody>
      </p:sp>
      <p:sp>
        <p:nvSpPr>
          <p:cNvPr id="4" name="bloco Contexto"/>
          <p:cNvSpPr/>
          <p:nvPr/>
        </p:nvSpPr>
        <p:spPr>
          <a:xfrm>
            <a:off x="548640" y="1353312"/>
            <a:ext cx="2624328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rótulo Contexto"/>
          <p:cNvSpPr txBox="1"/>
          <p:nvPr/>
        </p:nvSpPr>
        <p:spPr>
          <a:xfrm>
            <a:off x="713232" y="1444752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CONTEXTO</a:t>
            </a:r>
            <a:endParaRPr lang="en-US" sz="800" dirty="0"/>
          </a:p>
        </p:txBody>
      </p:sp>
      <p:sp>
        <p:nvSpPr>
          <p:cNvPr id="6" name="texto Contexto"/>
          <p:cNvSpPr txBox="1"/>
          <p:nvPr/>
        </p:nvSpPr>
        <p:spPr>
          <a:xfrm>
            <a:off x="713232" y="1636776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O suporte emocional do dia a dia acabou ou se encolheu. O idoso perdeu quem o ouvia; o adulto urbano, esgotado, não tem tempo para os encontros espontâneos. A solidão tem o risco de virar depressão, e a depressão tira a força de ir atrás de novos encontros e conversas.</a:t>
            </a:r>
            <a:endParaRPr lang="en-US" sz="850" dirty="0"/>
          </a:p>
        </p:txBody>
      </p:sp>
      <p:sp>
        <p:nvSpPr>
          <p:cNvPr id="7" name="bloco Problema (causa raiz)"/>
          <p:cNvSpPr/>
          <p:nvPr/>
        </p:nvSpPr>
        <p:spPr>
          <a:xfrm>
            <a:off x="3259836" y="1353312"/>
            <a:ext cx="2624328" cy="1152144"/>
          </a:xfrm>
          <a:prstGeom prst="roundRect">
            <a:avLst>
              <a:gd name="adj" fmla="val 12698"/>
            </a:avLst>
          </a:prstGeom>
          <a:solidFill>
            <a:srgbClr val="FDE3D6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8" name="rótulo Problema (causa raiz)"/>
          <p:cNvSpPr txBox="1"/>
          <p:nvPr/>
        </p:nvSpPr>
        <p:spPr>
          <a:xfrm>
            <a:off x="3424428" y="1444752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PROBLEMA (CAUSA RAIZ)</a:t>
            </a:r>
            <a:endParaRPr lang="en-US" sz="800" dirty="0"/>
          </a:p>
        </p:txBody>
      </p:sp>
      <p:sp>
        <p:nvSpPr>
          <p:cNvPr id="9" name="texto Problema (causa raiz)"/>
          <p:cNvSpPr txBox="1"/>
          <p:nvPr/>
        </p:nvSpPr>
        <p:spPr>
          <a:xfrm>
            <a:off x="3424428" y="1636776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A vontade de conversar aparece quando não há ninguém disponível. Para o idoso: a tarde vazia, o fim de semana sem ligação, a insônia, a notícia ruim. Para o adulto urbano: a casa vazia à noite, o fim de semana sem programa, o áudio ao amigo sem resposta.</a:t>
            </a:r>
            <a:endParaRPr lang="en-US" sz="850" dirty="0"/>
          </a:p>
        </p:txBody>
      </p:sp>
      <p:sp>
        <p:nvSpPr>
          <p:cNvPr id="10" name="bloco Alternativas atuais"/>
          <p:cNvSpPr/>
          <p:nvPr/>
        </p:nvSpPr>
        <p:spPr>
          <a:xfrm>
            <a:off x="5971032" y="1353312"/>
            <a:ext cx="2624328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1" name="rótulo Alternativas atuais"/>
          <p:cNvSpPr txBox="1"/>
          <p:nvPr/>
        </p:nvSpPr>
        <p:spPr>
          <a:xfrm>
            <a:off x="6135624" y="1444752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ALTERNATIVAS ATUAIS</a:t>
            </a:r>
            <a:endParaRPr lang="en-US" sz="800" dirty="0"/>
          </a:p>
        </p:txBody>
      </p:sp>
      <p:sp>
        <p:nvSpPr>
          <p:cNvPr id="12" name="texto Alternativas atuais"/>
          <p:cNvSpPr txBox="1"/>
          <p:nvPr/>
        </p:nvSpPr>
        <p:spPr>
          <a:xfrm>
            <a:off x="6135624" y="1636776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Ligação semanal dos filhos, TV ligada o dia todo, grupo da família no WhatsApp, cuidadora, igreja, Alexa, áudio para o amigo, terapia, redes sociais, assistentes de IA genéricos, jogos online e plataformas como Discord.</a:t>
            </a:r>
            <a:endParaRPr lang="en-US" sz="850" dirty="0"/>
          </a:p>
        </p:txBody>
      </p:sp>
      <p:sp>
        <p:nvSpPr>
          <p:cNvPr id="13" name="bloco Clientes"/>
          <p:cNvSpPr/>
          <p:nvPr/>
        </p:nvSpPr>
        <p:spPr>
          <a:xfrm>
            <a:off x="548640" y="2569464"/>
            <a:ext cx="2624328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4" name="rótulo Clientes"/>
          <p:cNvSpPr txBox="1"/>
          <p:nvPr/>
        </p:nvSpPr>
        <p:spPr>
          <a:xfrm>
            <a:off x="713232" y="266090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CLIENTES</a:t>
            </a:r>
            <a:endParaRPr lang="en-US" sz="800" dirty="0"/>
          </a:p>
        </p:txBody>
      </p:sp>
      <p:sp>
        <p:nvSpPr>
          <p:cNvPr id="15" name="texto Clientes"/>
          <p:cNvSpPr txBox="1"/>
          <p:nvPr/>
        </p:nvSpPr>
        <p:spPr>
          <a:xfrm>
            <a:off x="713232" y="2852928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A1B18"/>
                </a:solidFill>
              </a:rPr>
              <a:t>Público inicial: 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B5A55"/>
                </a:solidFill>
              </a:rPr>
              <a:t>pessoas de 70 anos ou mais que moram sozinhas, com celular ou tablet em casa. Pagador: filhos de 40 a 55 anos.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A1B18"/>
                </a:solidFill>
              </a:rPr>
              <a:t>Expansão: 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B5A55"/>
                </a:solidFill>
              </a:rPr>
              <a:t>adultos de 28 a 45 anos que moram sós em capitais e trabalham mais de 9 horas por dia; adolescentes de 13 a 17 anos com dificuldade de se comunicar e se expressar (pagador: pais).</a:t>
            </a:r>
            <a:endParaRPr lang="en-US" sz="800" dirty="0"/>
          </a:p>
        </p:txBody>
      </p:sp>
      <p:sp>
        <p:nvSpPr>
          <p:cNvPr id="16" name="bloco Impacto emocional"/>
          <p:cNvSpPr/>
          <p:nvPr/>
        </p:nvSpPr>
        <p:spPr>
          <a:xfrm>
            <a:off x="3259836" y="2569464"/>
            <a:ext cx="2624328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7" name="rótulo Impacto emocional"/>
          <p:cNvSpPr txBox="1"/>
          <p:nvPr/>
        </p:nvSpPr>
        <p:spPr>
          <a:xfrm>
            <a:off x="3424428" y="266090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IMPACTO EMOCIONAL</a:t>
            </a:r>
            <a:endParaRPr lang="en-US" sz="800" dirty="0"/>
          </a:p>
        </p:txBody>
      </p:sp>
      <p:sp>
        <p:nvSpPr>
          <p:cNvPr id="18" name="texto Impacto emocional"/>
          <p:cNvSpPr txBox="1"/>
          <p:nvPr/>
        </p:nvSpPr>
        <p:spPr>
          <a:xfrm>
            <a:off x="3424428" y="2852928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Sensação de estar sobrando. Vergonha de ligar só para conversar. Pensamentos que não param à noite e constrangimento de admitir solidão. Na família, culpa e preocupação constante.</a:t>
            </a:r>
            <a:endParaRPr lang="en-US" sz="850" dirty="0"/>
          </a:p>
        </p:txBody>
      </p:sp>
      <p:sp>
        <p:nvSpPr>
          <p:cNvPr id="19" name="bloco Limitações das alternativas"/>
          <p:cNvSpPr/>
          <p:nvPr/>
        </p:nvSpPr>
        <p:spPr>
          <a:xfrm>
            <a:off x="5971032" y="2569464"/>
            <a:ext cx="2624328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0" name="rótulo Limitações das alternativas"/>
          <p:cNvSpPr txBox="1"/>
          <p:nvPr/>
        </p:nvSpPr>
        <p:spPr>
          <a:xfrm>
            <a:off x="6135624" y="266090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LIMITAÇÕES DAS ALTERNATIVAS</a:t>
            </a:r>
            <a:endParaRPr lang="en-US" sz="800" dirty="0"/>
          </a:p>
        </p:txBody>
      </p:sp>
      <p:sp>
        <p:nvSpPr>
          <p:cNvPr id="21" name="texto Limitações das alternativas"/>
          <p:cNvSpPr txBox="1"/>
          <p:nvPr/>
        </p:nvSpPr>
        <p:spPr>
          <a:xfrm>
            <a:off x="6135624" y="2852928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80" dirty="0">
                <a:solidFill>
                  <a:srgbClr val="6B5A55"/>
                </a:solidFill>
              </a:rPr>
              <a:t>A ligação termina em “está tudo bem”. O grupo da família não permite profundidade. A cuidadora é focada nos problemas físicos. A Alexa não lembra nem abre uma conversa pessoal. Para o adulto: o amigo demora a responder, a terapia tem hora marcada, a rede social piora a comparação, a IA genérica não devolve ninguém ao convívio. Jogos online aprofundam o distanciamento.</a:t>
            </a:r>
            <a:endParaRPr lang="en-US" sz="780" dirty="0"/>
          </a:p>
        </p:txBody>
      </p:sp>
      <p:sp>
        <p:nvSpPr>
          <p:cNvPr id="22" name="bloco Impacto quantificável"/>
          <p:cNvSpPr/>
          <p:nvPr/>
        </p:nvSpPr>
        <p:spPr>
          <a:xfrm>
            <a:off x="548640" y="3877056"/>
            <a:ext cx="804672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3" name="rótulo Impacto quantificável"/>
          <p:cNvSpPr txBox="1"/>
          <p:nvPr/>
        </p:nvSpPr>
        <p:spPr>
          <a:xfrm>
            <a:off x="713232" y="3968496"/>
            <a:ext cx="7717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IMPACTO QUANTIFICÁVEL</a:t>
            </a:r>
            <a:endParaRPr lang="en-US" sz="800" dirty="0"/>
          </a:p>
        </p:txBody>
      </p:sp>
      <p:sp>
        <p:nvSpPr>
          <p:cNvPr id="24" name="texto Impacto quantificável"/>
          <p:cNvSpPr txBox="1"/>
          <p:nvPr/>
        </p:nvSpPr>
        <p:spPr>
          <a:xfrm>
            <a:off x="713232" y="4160520"/>
            <a:ext cx="7717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C6B59"/>
                </a:solidFill>
              </a:rPr>
              <a:t>5,7 milhões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 de idosos moram sozinhos (IBGE). Morar só eleva em 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C6B59"/>
                </a:solidFill>
              </a:rPr>
              <a:t>2,4×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 a chance de solidão constante (ELSI-Brasil, 2023). Solidão 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C6B59"/>
                </a:solidFill>
              </a:rPr>
              <a:t>dobra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 o risco de depressão (OMS). 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C6B59"/>
                </a:solidFill>
              </a:rPr>
              <a:t>25%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 dos jovens adultos se sentem sozinhos (Meta-Gallup). Depressão em adultos: de 7,6% para 10,2% em 6 anos (PNS). 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C6B59"/>
                </a:solidFill>
              </a:rPr>
              <a:t>18,5%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5A55"/>
                </a:solidFill>
              </a:rPr>
              <a:t> dos adolescentes declararam que “a vida não vale a pena ser vivida” (IBGE).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EXERCÍCIO 2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Value Proposition Canvas</a:t>
            </a:r>
            <a:endParaRPr lang="en-US" sz="2800" dirty="0"/>
          </a:p>
        </p:txBody>
      </p:sp>
      <p:sp>
        <p:nvSpPr>
          <p:cNvPr id="4" name="cab mapa"/>
          <p:cNvSpPr txBox="1"/>
          <p:nvPr/>
        </p:nvSpPr>
        <p:spPr>
          <a:xfrm>
            <a:off x="548640" y="13167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A1B18"/>
                </a:solidFill>
              </a:rPr>
              <a:t>MAPA DE VALOR</a:t>
            </a:r>
            <a:endParaRPr lang="en-US" sz="900" dirty="0"/>
          </a:p>
        </p:txBody>
      </p:sp>
      <p:sp>
        <p:nvSpPr>
          <p:cNvPr id="5" name="cab perfil"/>
          <p:cNvSpPr txBox="1"/>
          <p:nvPr/>
        </p:nvSpPr>
        <p:spPr>
          <a:xfrm>
            <a:off x="4754880" y="13167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A1B18"/>
                </a:solidFill>
              </a:rPr>
              <a:t>PERFIL DO CLIENTE</a:t>
            </a:r>
            <a:endParaRPr lang="en-US" sz="900" dirty="0"/>
          </a:p>
        </p:txBody>
      </p:sp>
      <p:sp>
        <p:nvSpPr>
          <p:cNvPr id="6" name="elo"/>
          <p:cNvSpPr/>
          <p:nvPr/>
        </p:nvSpPr>
        <p:spPr>
          <a:xfrm>
            <a:off x="4443984" y="2926080"/>
            <a:ext cx="256032" cy="256032"/>
          </a:xfrm>
          <a:prstGeom prst="ellipse">
            <a:avLst/>
          </a:prstGeom>
          <a:solidFill>
            <a:srgbClr val="FDB9A1"/>
          </a:solidFill>
          <a:ln w="12700">
            <a:solidFill>
              <a:srgbClr val="FDB9A1"/>
            </a:solidFill>
            <a:prstDash val="solid"/>
          </a:ln>
        </p:spPr>
      </p:sp>
      <p:sp>
        <p:nvSpPr>
          <p:cNvPr id="7" name="elo seta"/>
          <p:cNvSpPr txBox="1"/>
          <p:nvPr/>
        </p:nvSpPr>
        <p:spPr>
          <a:xfrm>
            <a:off x="4443984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⇄</a:t>
            </a:r>
            <a:endParaRPr lang="en-US" sz="1100" dirty="0"/>
          </a:p>
        </p:txBody>
      </p:sp>
      <p:sp>
        <p:nvSpPr>
          <p:cNvPr id="8" name="bloco Produtos &amp; serviços"/>
          <p:cNvSpPr/>
          <p:nvPr/>
        </p:nvSpPr>
        <p:spPr>
          <a:xfrm>
            <a:off x="548640" y="1554480"/>
            <a:ext cx="3840480" cy="941832"/>
          </a:xfrm>
          <a:prstGeom prst="roundRect">
            <a:avLst>
              <a:gd name="adj" fmla="val 15534"/>
            </a:avLst>
          </a:prstGeom>
          <a:solidFill>
            <a:srgbClr val="FDE3D6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9" name="rótulo Produtos &amp;amp; serviços"/>
          <p:cNvSpPr txBox="1"/>
          <p:nvPr/>
        </p:nvSpPr>
        <p:spPr>
          <a:xfrm>
            <a:off x="713232" y="164592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PRODUTOS &amp; SERVIÇOS</a:t>
            </a:r>
            <a:endParaRPr lang="en-US" sz="800" dirty="0"/>
          </a:p>
        </p:txBody>
      </p:sp>
      <p:sp>
        <p:nvSpPr>
          <p:cNvPr id="10" name="texto Produtos &amp; serviços"/>
          <p:cNvSpPr txBox="1"/>
          <p:nvPr/>
        </p:nvSpPr>
        <p:spPr>
          <a:xfrm>
            <a:off x="713232" y="1837944"/>
            <a:ext cx="3511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Companheiro virtual com rosto e voz humanos, que lembra da história do usuário.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Modo Família: painel para os filhos/pais acompanharem.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Assinatura mensal, paga pela família.</a:t>
            </a:r>
            <a:endParaRPr lang="en-US" sz="950" dirty="0"/>
          </a:p>
        </p:txBody>
      </p:sp>
      <p:sp>
        <p:nvSpPr>
          <p:cNvPr id="11" name="bloco Tarefas do cliente"/>
          <p:cNvSpPr/>
          <p:nvPr/>
        </p:nvSpPr>
        <p:spPr>
          <a:xfrm>
            <a:off x="4754880" y="1554480"/>
            <a:ext cx="3840480" cy="941832"/>
          </a:xfrm>
          <a:prstGeom prst="roundRect">
            <a:avLst>
              <a:gd name="adj" fmla="val 15534"/>
            </a:avLst>
          </a:prstGeom>
          <a:solidFill>
            <a:srgbClr val="FDE3D6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2" name="rótulo Tarefas do cliente"/>
          <p:cNvSpPr txBox="1"/>
          <p:nvPr/>
        </p:nvSpPr>
        <p:spPr>
          <a:xfrm>
            <a:off x="4919472" y="164592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TAREFAS DO CLIENTE</a:t>
            </a:r>
            <a:endParaRPr lang="en-US" sz="800" dirty="0"/>
          </a:p>
        </p:txBody>
      </p:sp>
      <p:sp>
        <p:nvSpPr>
          <p:cNvPr id="13" name="texto Tarefas do cliente"/>
          <p:cNvSpPr txBox="1"/>
          <p:nvPr/>
        </p:nvSpPr>
        <p:spPr>
          <a:xfrm>
            <a:off x="4919472" y="1837944"/>
            <a:ext cx="3511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Ser legítimo nas interações com a IA.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Cultivar a relação: ter conversa ao longo do dia.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Contar o que aconteceu e quais são seus maiores desafios.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Manter o vínculo com a família e amigos.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Família: acompanhar à distância.</a:t>
            </a:r>
            <a:endParaRPr lang="en-US" sz="950" dirty="0"/>
          </a:p>
        </p:txBody>
      </p:sp>
      <p:sp>
        <p:nvSpPr>
          <p:cNvPr id="14" name="bloco Criadores de ganho"/>
          <p:cNvSpPr/>
          <p:nvPr/>
        </p:nvSpPr>
        <p:spPr>
          <a:xfrm>
            <a:off x="548640" y="2542032"/>
            <a:ext cx="384048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5" name="rótulo Criadores de ganho"/>
          <p:cNvSpPr txBox="1"/>
          <p:nvPr/>
        </p:nvSpPr>
        <p:spPr>
          <a:xfrm>
            <a:off x="713232" y="263347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CRIADORES DE GANHO</a:t>
            </a:r>
            <a:endParaRPr lang="en-US" sz="800" dirty="0"/>
          </a:p>
        </p:txBody>
      </p:sp>
      <p:sp>
        <p:nvSpPr>
          <p:cNvPr id="16" name="texto Criadores de ganho"/>
          <p:cNvSpPr txBox="1"/>
          <p:nvPr/>
        </p:nvSpPr>
        <p:spPr>
          <a:xfrm>
            <a:off x="713232" y="2825496"/>
            <a:ext cx="3511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Ser uma conexão legítima, de verdade.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Sugere ligação para a família e estimula interação com o mundo exterior (missa, grupo, feira).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Resumo semanal para os filhos (idosos).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Acompanhamento que liga alertas para comportamentos nocivos ou de risco.</a:t>
            </a:r>
            <a:endParaRPr lang="en-US" sz="950" dirty="0"/>
          </a:p>
        </p:txBody>
      </p:sp>
      <p:sp>
        <p:nvSpPr>
          <p:cNvPr id="17" name="bloco Ganhos"/>
          <p:cNvSpPr/>
          <p:nvPr/>
        </p:nvSpPr>
        <p:spPr>
          <a:xfrm>
            <a:off x="4754880" y="2542032"/>
            <a:ext cx="384048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8" name="rótulo Ganhos"/>
          <p:cNvSpPr txBox="1"/>
          <p:nvPr/>
        </p:nvSpPr>
        <p:spPr>
          <a:xfrm>
            <a:off x="4919472" y="263347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GANHOS</a:t>
            </a:r>
            <a:endParaRPr lang="en-US" sz="800" dirty="0"/>
          </a:p>
        </p:txBody>
      </p:sp>
      <p:sp>
        <p:nvSpPr>
          <p:cNvPr id="19" name="texto Ganhos"/>
          <p:cNvSpPr txBox="1"/>
          <p:nvPr/>
        </p:nvSpPr>
        <p:spPr>
          <a:xfrm>
            <a:off x="4919472" y="2825496"/>
            <a:ext cx="3511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Ser ouvido quando precisa.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Alguém que lembra da sua história.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Te ajuda no desafio que você tiver.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Mais ligações e encontros no mundo real.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Família: tranquilidade e aviso antes do problema.</a:t>
            </a:r>
            <a:endParaRPr lang="en-US" sz="950" dirty="0"/>
          </a:p>
        </p:txBody>
      </p:sp>
      <p:sp>
        <p:nvSpPr>
          <p:cNvPr id="20" name="bloco Aliviadores de dor"/>
          <p:cNvSpPr/>
          <p:nvPr/>
        </p:nvSpPr>
        <p:spPr>
          <a:xfrm>
            <a:off x="548640" y="3593592"/>
            <a:ext cx="3840480" cy="1106424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1" name="rótulo Aliviadores de dor"/>
          <p:cNvSpPr txBox="1"/>
          <p:nvPr/>
        </p:nvSpPr>
        <p:spPr>
          <a:xfrm>
            <a:off x="713232" y="36850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ALIVIADORES DE DOR</a:t>
            </a:r>
            <a:endParaRPr lang="en-US" sz="800" dirty="0"/>
          </a:p>
        </p:txBody>
      </p:sp>
      <p:sp>
        <p:nvSpPr>
          <p:cNvPr id="22" name="texto Aliviadores de dor"/>
          <p:cNvSpPr txBox="1"/>
          <p:nvPr/>
        </p:nvSpPr>
        <p:spPr>
          <a:xfrm>
            <a:off x="713232" y="3877056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Ele chama: ninguém precisa pedir.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Disponível de madrugada e no fim de semana.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Lembra nomes, remédios e o papo de ontem.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Fala, não só digita: fácil para quem tem 70+.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Não julga: dá para admitir a solidão.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Avisa a família quando a rotina muda.</a:t>
            </a:r>
            <a:endParaRPr lang="en-US" sz="950" dirty="0"/>
          </a:p>
        </p:txBody>
      </p:sp>
      <p:sp>
        <p:nvSpPr>
          <p:cNvPr id="23" name="bloco Dores"/>
          <p:cNvSpPr/>
          <p:nvPr/>
        </p:nvSpPr>
        <p:spPr>
          <a:xfrm>
            <a:off x="4754880" y="3593592"/>
            <a:ext cx="3840480" cy="1106424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24" name="rótulo Dores"/>
          <p:cNvSpPr txBox="1"/>
          <p:nvPr/>
        </p:nvSpPr>
        <p:spPr>
          <a:xfrm>
            <a:off x="4919472" y="36850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DORES</a:t>
            </a:r>
            <a:endParaRPr lang="en-US" sz="800" dirty="0"/>
          </a:p>
        </p:txBody>
      </p:sp>
      <p:sp>
        <p:nvSpPr>
          <p:cNvPr id="25" name="texto Dores"/>
          <p:cNvSpPr txBox="1"/>
          <p:nvPr/>
        </p:nvSpPr>
        <p:spPr>
          <a:xfrm>
            <a:off x="4919472" y="3877056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Ninguém disponível na hora.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Medo de ser um peso.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Sensação de incompreensão.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Não saber “como chegar” ou “começar” qualquer objetivo ou meta.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6B5A55"/>
                </a:solidFill>
              </a:rPr>
              <a:t>Família: evasivas e culpa.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A1B18"/>
                </a:solidFill>
              </a:rPr>
              <a:t>Quero ter alguém com quem conversar de verdade.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C6B59"/>
                </a:solidFill>
              </a:rPr>
              <a:t>JOB TO BE DONE · QUEM MORA SÓ</a:t>
            </a:r>
            <a:endParaRPr lang="en-US" sz="1100" dirty="0"/>
          </a:p>
        </p:txBody>
      </p:sp>
      <p:sp>
        <p:nvSpPr>
          <p:cNvPr id="4" name="jtbd detalhes"/>
          <p:cNvSpPr/>
          <p:nvPr/>
        </p:nvSpPr>
        <p:spPr>
          <a:xfrm>
            <a:off x="548640" y="3017520"/>
            <a:ext cx="804672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jtbd texto"/>
          <p:cNvSpPr txBox="1"/>
          <p:nvPr/>
        </p:nvSpPr>
        <p:spPr>
          <a:xfrm>
            <a:off x="777240" y="3127248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B18"/>
                </a:solidFill>
              </a:rPr>
              <a:t>Job do pagador (filho): </a:t>
            </a:r>
            <a:pPr indent="0" marL="0">
              <a:buNone/>
            </a:pPr>
            <a:r>
              <a:rPr lang="en-US" sz="1150" i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“Quero saber que minha mãe está bem, sem transformar cada ligação num interrogatório.”</a:t>
            </a:r>
            <a:endParaRPr lang="en-US" sz="11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FC6B59"/>
                </a:solidFill>
              </a:rPr>
              <a:t>Que funcionalidade-chave entrega o job? </a:t>
            </a:r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Presença a qualquer hora, e ela toma a iniciativa: chama no horário em que o dia esvazia e continua a conversa de ontem (memória da história do usuário).</a:t>
            </a:r>
            <a:endParaRPr lang="en-US" sz="11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FC6B59"/>
                </a:solidFill>
              </a:rPr>
              <a:t>O que tangibiliza a certeza da entrega? </a:t>
            </a:r>
            <a:pPr indent="0" marL="0">
              <a:buNone/>
            </a:pPr>
            <a:r>
              <a:rPr lang="en-US" sz="1150" dirty="0">
                <a:solidFill>
                  <a:srgbClr val="6B5A55"/>
                </a:solidFill>
              </a:rPr>
              <a:t>Rosto e voz humanos que cumprimentam pelo nome. Para o filho: o resumo semanal que chega sem ele pedir.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EXERCÍCIO 3 · ENTREGÁVEIS DO PROTÓTIPO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Job, promessa, hipótese e funcionalidades-chave</a:t>
            </a:r>
            <a:endParaRPr lang="en-US" sz="2800" dirty="0"/>
          </a:p>
        </p:txBody>
      </p:sp>
      <p:sp>
        <p:nvSpPr>
          <p:cNvPr id="4" name="bloco Job to be done dos clientes"/>
          <p:cNvSpPr/>
          <p:nvPr/>
        </p:nvSpPr>
        <p:spPr>
          <a:xfrm>
            <a:off x="548640" y="1444752"/>
            <a:ext cx="329184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rótulo Job to be done dos clientes"/>
          <p:cNvSpPr txBox="1"/>
          <p:nvPr/>
        </p:nvSpPr>
        <p:spPr>
          <a:xfrm>
            <a:off x="713232" y="153619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JOB TO BE DONE DOS CLIENTES</a:t>
            </a:r>
            <a:endParaRPr lang="en-US" sz="800" dirty="0"/>
          </a:p>
        </p:txBody>
      </p:sp>
      <p:sp>
        <p:nvSpPr>
          <p:cNvPr id="6" name="texto Job to be done dos clientes"/>
          <p:cNvSpPr txBox="1"/>
          <p:nvPr/>
        </p:nvSpPr>
        <p:spPr>
          <a:xfrm>
            <a:off x="713232" y="172821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“Quero ter alguém com quem conversar de verdade.”</a:t>
            </a:r>
            <a:endParaRPr lang="en-US" sz="950" dirty="0"/>
          </a:p>
        </p:txBody>
      </p:sp>
      <p:sp>
        <p:nvSpPr>
          <p:cNvPr id="7" name="bloco Promessa do produto"/>
          <p:cNvSpPr/>
          <p:nvPr/>
        </p:nvSpPr>
        <p:spPr>
          <a:xfrm>
            <a:off x="548640" y="2267712"/>
            <a:ext cx="3291840" cy="713232"/>
          </a:xfrm>
          <a:prstGeom prst="roundRect">
            <a:avLst>
              <a:gd name="adj" fmla="val 20513"/>
            </a:avLst>
          </a:prstGeom>
          <a:solidFill>
            <a:srgbClr val="FDE3D6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8" name="rótulo Promessa do produto"/>
          <p:cNvSpPr txBox="1"/>
          <p:nvPr/>
        </p:nvSpPr>
        <p:spPr>
          <a:xfrm>
            <a:off x="713232" y="235915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PROMESSA DO PRODUTO</a:t>
            </a:r>
            <a:endParaRPr lang="en-US" sz="800" dirty="0"/>
          </a:p>
        </p:txBody>
      </p:sp>
      <p:sp>
        <p:nvSpPr>
          <p:cNvPr id="9" name="texto Promessa do produto"/>
          <p:cNvSpPr txBox="1"/>
          <p:nvPr/>
        </p:nvSpPr>
        <p:spPr>
          <a:xfrm>
            <a:off x="713232" y="255117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“Fale o que você sente. Tem alguém ouvindo.”</a:t>
            </a:r>
            <a:endParaRPr lang="en-US" sz="950" dirty="0"/>
          </a:p>
        </p:txBody>
      </p:sp>
      <p:sp>
        <p:nvSpPr>
          <p:cNvPr id="10" name="bloco Hipótese"/>
          <p:cNvSpPr/>
          <p:nvPr/>
        </p:nvSpPr>
        <p:spPr>
          <a:xfrm>
            <a:off x="548640" y="3090672"/>
            <a:ext cx="32918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1" name="rótulo Hipótese"/>
          <p:cNvSpPr txBox="1"/>
          <p:nvPr/>
        </p:nvSpPr>
        <p:spPr>
          <a:xfrm>
            <a:off x="713232" y="318211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HIPÓTESE</a:t>
            </a:r>
            <a:endParaRPr lang="en-US" sz="800" dirty="0"/>
          </a:p>
        </p:txBody>
      </p:sp>
      <p:sp>
        <p:nvSpPr>
          <p:cNvPr id="12" name="texto Hipótese"/>
          <p:cNvSpPr txBox="1"/>
          <p:nvPr/>
        </p:nvSpPr>
        <p:spPr>
          <a:xfrm>
            <a:off x="713232" y="3374136"/>
            <a:ext cx="29626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2A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um idoso que mora só tiver um companheiro com interesse genuíno, que estimula a conversa e que lembra da história dele, ele vai interagir todo dia sem lembrete, e a família vai pagar por esse serviço.”</a:t>
            </a:r>
            <a:endParaRPr lang="en-US" sz="950" dirty="0"/>
          </a:p>
        </p:txBody>
      </p:sp>
      <p:sp>
        <p:nvSpPr>
          <p:cNvPr id="13" name="funcionalidades"/>
          <p:cNvSpPr/>
          <p:nvPr/>
        </p:nvSpPr>
        <p:spPr>
          <a:xfrm>
            <a:off x="4023360" y="1444752"/>
            <a:ext cx="457200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4" name="rótulo funcionalidades"/>
          <p:cNvSpPr txBox="1"/>
          <p:nvPr/>
        </p:nvSpPr>
        <p:spPr>
          <a:xfrm>
            <a:off x="4206240" y="1554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FUNCIONALIDADES-CHAVE</a:t>
            </a:r>
            <a:endParaRPr lang="en-US" sz="800" dirty="0"/>
          </a:p>
        </p:txBody>
      </p:sp>
      <p:sp>
        <p:nvSpPr>
          <p:cNvPr id="15" name="feat num 01"/>
          <p:cNvSpPr txBox="1"/>
          <p:nvPr/>
        </p:nvSpPr>
        <p:spPr>
          <a:xfrm>
            <a:off x="4206240" y="18562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feat texto 01"/>
          <p:cNvSpPr txBox="1"/>
          <p:nvPr/>
        </p:nvSpPr>
        <p:spPr>
          <a:xfrm>
            <a:off x="4663440" y="18562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Companheiro com voz e rosto humanos, que puxa a conversa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B5A55"/>
                </a:solidFill>
              </a:rPr>
              <a:t>Conversa por voz ou vídeo, a qualquer hora. Chama no horário combinado (ex.: fim de tarde) e retoma o que foi dito: nomes, remédios, histórias. Padrão: conversa por voz, sem digitar.</a:t>
            </a:r>
            <a:endParaRPr lang="en-US" sz="1100" dirty="0"/>
          </a:p>
        </p:txBody>
      </p:sp>
      <p:sp>
        <p:nvSpPr>
          <p:cNvPr id="17" name="feat num 02"/>
          <p:cNvSpPr txBox="1"/>
          <p:nvPr/>
        </p:nvSpPr>
        <p:spPr>
          <a:xfrm>
            <a:off x="4206240" y="2724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feat texto 02"/>
          <p:cNvSpPr txBox="1"/>
          <p:nvPr/>
        </p:nvSpPr>
        <p:spPr>
          <a:xfrm>
            <a:off x="4663440" y="27249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Ponte para o mundo real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B5A55"/>
                </a:solidFill>
              </a:rPr>
              <a:t>Estimula conexões externas: sugere ligar para a filha com assunto pronto, lembra aniversários e eventos do bairro. Métrica-norte: ligações do idoso para a família por semana.</a:t>
            </a:r>
            <a:endParaRPr lang="en-US" sz="1100" dirty="0"/>
          </a:p>
        </p:txBody>
      </p:sp>
      <p:sp>
        <p:nvSpPr>
          <p:cNvPr id="19" name="feat num 03"/>
          <p:cNvSpPr txBox="1"/>
          <p:nvPr/>
        </p:nvSpPr>
        <p:spPr>
          <a:xfrm>
            <a:off x="4206240" y="35935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feat texto 03"/>
          <p:cNvSpPr txBox="1"/>
          <p:nvPr/>
        </p:nvSpPr>
        <p:spPr>
          <a:xfrm>
            <a:off x="4663440" y="35935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Modo Família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B5A55"/>
                </a:solidFill>
              </a:rPr>
              <a:t>Painel para os filhos com resumo semanal e aviso quando a rotina muda; encaminha a profissional em sinal de risco.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EXERCÍCIO 3 · ENTREGÁVEIS DO PROTÓTIPO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Protótipo, cliente e método de teste</a:t>
            </a:r>
            <a:endParaRPr lang="en-US" sz="2800" dirty="0"/>
          </a:p>
        </p:txBody>
      </p:sp>
      <p:sp>
        <p:nvSpPr>
          <p:cNvPr id="4" name="bloco Protótipo · o que vamos testar"/>
          <p:cNvSpPr/>
          <p:nvPr/>
        </p:nvSpPr>
        <p:spPr>
          <a:xfrm>
            <a:off x="548640" y="1444752"/>
            <a:ext cx="256032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rótulo Protótipo · o que vamos testar"/>
          <p:cNvSpPr txBox="1"/>
          <p:nvPr/>
        </p:nvSpPr>
        <p:spPr>
          <a:xfrm>
            <a:off x="713232" y="153619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PROTÓTIPO · O QUE VAMOS TESTAR</a:t>
            </a:r>
            <a:endParaRPr lang="en-US" sz="800" dirty="0"/>
          </a:p>
        </p:txBody>
      </p:sp>
      <p:sp>
        <p:nvSpPr>
          <p:cNvPr id="6" name="texto Protótipo · o que vamos testar"/>
          <p:cNvSpPr txBox="1"/>
          <p:nvPr/>
        </p:nvSpPr>
        <p:spPr>
          <a:xfrm>
            <a:off x="713232" y="1728216"/>
            <a:ext cx="22311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Chamada pelo WhatsApp com avatar de rosto e voz (membro do grupo seguindo roteiro).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“Memória” em Google Sheets: nomes, remédios, assuntos de ontem.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Modo Família: mensagem no WhatsApp do filho, montada à mão a partir da planilha.</a:t>
            </a:r>
            <a:endParaRPr lang="en-US" sz="950" dirty="0"/>
          </a:p>
        </p:txBody>
      </p:sp>
      <p:sp>
        <p:nvSpPr>
          <p:cNvPr id="7" name="bloco Cliente · quem vai testar"/>
          <p:cNvSpPr/>
          <p:nvPr/>
        </p:nvSpPr>
        <p:spPr>
          <a:xfrm>
            <a:off x="3291840" y="1444752"/>
            <a:ext cx="256032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8" name="rótulo Cliente · quem vai testar"/>
          <p:cNvSpPr txBox="1"/>
          <p:nvPr/>
        </p:nvSpPr>
        <p:spPr>
          <a:xfrm>
            <a:off x="3456432" y="153619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CLIENTE · QUEM VAI TESTAR</a:t>
            </a:r>
            <a:endParaRPr lang="en-US" sz="800" dirty="0"/>
          </a:p>
        </p:txBody>
      </p:sp>
      <p:sp>
        <p:nvSpPr>
          <p:cNvPr id="9" name="texto Cliente · quem vai testar"/>
          <p:cNvSpPr txBox="1"/>
          <p:nvPr/>
        </p:nvSpPr>
        <p:spPr>
          <a:xfrm>
            <a:off x="3456432" y="1728216"/>
            <a:ext cx="22311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Idosos de 70+ que moram sós, com filho(a) de 35 a 55 anos que aceite participar.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Antes do teste: entrevista qualitativa para confirmar o problema sem revelar a solução.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Critério de corte: mora só, tem tablet ou celular com câmera, fala ao telefone sem ajuda.</a:t>
            </a:r>
            <a:endParaRPr lang="en-US" sz="950" dirty="0"/>
          </a:p>
        </p:txBody>
      </p:sp>
      <p:sp>
        <p:nvSpPr>
          <p:cNvPr id="10" name="bloco Método · como vamos testar"/>
          <p:cNvSpPr/>
          <p:nvPr/>
        </p:nvSpPr>
        <p:spPr>
          <a:xfrm>
            <a:off x="6035040" y="1444752"/>
            <a:ext cx="256032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1" name="rótulo Método · como vamos testar"/>
          <p:cNvSpPr txBox="1"/>
          <p:nvPr/>
        </p:nvSpPr>
        <p:spPr>
          <a:xfrm>
            <a:off x="6199632" y="153619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MÉTODO · COMO VAMOS TESTAR</a:t>
            </a:r>
            <a:endParaRPr lang="en-US" sz="800" dirty="0"/>
          </a:p>
        </p:txBody>
      </p:sp>
      <p:sp>
        <p:nvSpPr>
          <p:cNvPr id="12" name="texto Método · como vamos testar"/>
          <p:cNvSpPr txBox="1"/>
          <p:nvPr/>
        </p:nvSpPr>
        <p:spPr>
          <a:xfrm>
            <a:off x="6199632" y="1728216"/>
            <a:ext cx="22311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Chamada diária no fim da tarde, sem lembrete da família.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Medimos: duração média e nº de ligações do idoso para a família (semana anterior vs. durante o teste).</a:t>
            </a:r>
            <a:endParaRPr lang="en-US" sz="95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6B5A55"/>
                </a:solidFill>
              </a:rPr>
              <a:t>Entrevista com idoso e filho. Validar se pagariam mensalidade.</a:t>
            </a:r>
            <a:endParaRPr lang="en-US" sz="950" dirty="0"/>
          </a:p>
        </p:txBody>
      </p:sp>
      <p:sp>
        <p:nvSpPr>
          <p:cNvPr id="13" name="bloco Métricas de sucesso e critérios de decisão"/>
          <p:cNvSpPr/>
          <p:nvPr/>
        </p:nvSpPr>
        <p:spPr>
          <a:xfrm>
            <a:off x="548640" y="3675888"/>
            <a:ext cx="8046720" cy="822960"/>
          </a:xfrm>
          <a:prstGeom prst="roundRect">
            <a:avLst>
              <a:gd name="adj" fmla="val 17778"/>
            </a:avLst>
          </a:prstGeom>
          <a:solidFill>
            <a:srgbClr val="FDE3D6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4" name="rótulo Métricas de sucesso e critérios de decisão"/>
          <p:cNvSpPr txBox="1"/>
          <p:nvPr/>
        </p:nvSpPr>
        <p:spPr>
          <a:xfrm>
            <a:off x="713232" y="3767328"/>
            <a:ext cx="7717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C6B59"/>
                </a:solidFill>
              </a:rPr>
              <a:t>MÉTRICAS DE SUCESSO E CRITÉRIOS DE DECISÃO</a:t>
            </a:r>
            <a:endParaRPr lang="en-US" sz="800" dirty="0"/>
          </a:p>
        </p:txBody>
      </p:sp>
      <p:sp>
        <p:nvSpPr>
          <p:cNvPr id="15" name="texto Métricas de sucesso e critérios de decisão"/>
          <p:cNvSpPr txBox="1"/>
          <p:nvPr/>
        </p:nvSpPr>
        <p:spPr>
          <a:xfrm>
            <a:off x="713232" y="3959352"/>
            <a:ext cx="7717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A1B18"/>
                </a:solidFill>
              </a:rPr>
              <a:t>Proposta: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B5A55"/>
                </a:solidFill>
              </a:rPr>
              <a:t>chamada atendida, com 10 minutos ou mais de conversa.   </a:t>
            </a:r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A1B18"/>
                </a:solidFill>
              </a:rPr>
              <a:t>Negócio: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B5A55"/>
                </a:solidFill>
              </a:rPr>
              <a:t>se os filhos pagariam a mensalidade pelo produto.   </a:t>
            </a:r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2A1B18"/>
                </a:solidFill>
              </a:rPr>
              <a:t>Experiência: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B5A55"/>
                </a:solidFill>
              </a:rPr>
              <a:t>pontos a melhorar em formato (voz sem rosto? nível de detalhe compartilhado com a família).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EXERCÍCIO 4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Mapa de associação perceptual</a:t>
            </a:r>
            <a:endParaRPr lang="en-US" sz="2800" dirty="0"/>
          </a:p>
        </p:txBody>
      </p:sp>
      <p:graphicFrame>
        <p:nvGraphicFramePr>
          <p:cNvPr id="7" name="mapa perceptu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31520"/>
                <a:gridCol w="731520"/>
                <a:gridCol w="1051560"/>
                <a:gridCol w="685800"/>
                <a:gridCol w="868680"/>
                <a:gridCol w="86868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da categoria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Saliência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/ IA genérica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Cuidadora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Terapia online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convivência / igreja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Iniciativa: puxa a conversa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Escuta e acolhimento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e continuidade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 para 70+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Tranquilidade para a família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Disponível a qualquer hora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Promove conexões no mundo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Cuidado físico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Entretenimento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95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C6B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a tabela"/>
          <p:cNvSpPr txBox="1"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39590"/>
                </a:solidFill>
              </a:rPr>
              <a:t>Saliência = peso do código para a categoria (0 a 10). Cora não pontua 10 em tudo: cuidado físico é território da cuidadora.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6B59"/>
                </a:solidFill>
              </a:rPr>
              <a:t>EXERCÍCIO 5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A1B18"/>
                </a:solidFill>
              </a:rPr>
              <a:t>Posicionamento da Cora</a:t>
            </a:r>
            <a:endParaRPr lang="en-US" sz="2800" dirty="0"/>
          </a:p>
        </p:txBody>
      </p:sp>
      <p:sp>
        <p:nvSpPr>
          <p:cNvPr id="4" name="pos Produto"/>
          <p:cNvSpPr/>
          <p:nvPr/>
        </p:nvSpPr>
        <p:spPr>
          <a:xfrm>
            <a:off x="548640" y="1417320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5" name="pos rótulo Produto"/>
          <p:cNvSpPr txBox="1"/>
          <p:nvPr/>
        </p:nvSpPr>
        <p:spPr>
          <a:xfrm>
            <a:off x="77724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400" dirty="0"/>
          </a:p>
        </p:txBody>
      </p:sp>
      <p:sp>
        <p:nvSpPr>
          <p:cNvPr id="6" name="pos texto Produto"/>
          <p:cNvSpPr txBox="1"/>
          <p:nvPr/>
        </p:nvSpPr>
        <p:spPr>
          <a:xfrm>
            <a:off x="2194560" y="147218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5"/>
                </a:solidFill>
              </a:rPr>
              <a:t>Companheiro virtual com rosto e voz que toma a iniciativa: chama todo dia, lembra da história do idoso e o devolve ao convívio, com Modo Família para reporte. Transparência: idoso e família sabem que é um companheiro virtual, não uma pessoa.</a:t>
            </a:r>
            <a:endParaRPr lang="en-US" sz="1000" dirty="0"/>
          </a:p>
        </p:txBody>
      </p:sp>
      <p:sp>
        <p:nvSpPr>
          <p:cNvPr id="7" name="pos Preço"/>
          <p:cNvSpPr/>
          <p:nvPr/>
        </p:nvSpPr>
        <p:spPr>
          <a:xfrm>
            <a:off x="548640" y="2039112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8" name="pos rótulo Preço"/>
          <p:cNvSpPr txBox="1"/>
          <p:nvPr/>
        </p:nvSpPr>
        <p:spPr>
          <a:xfrm>
            <a:off x="777240" y="2039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</a:t>
            </a:r>
            <a:endParaRPr lang="en-US" sz="1400" dirty="0"/>
          </a:p>
        </p:txBody>
      </p:sp>
      <p:sp>
        <p:nvSpPr>
          <p:cNvPr id="9" name="pos texto Preço"/>
          <p:cNvSpPr txBox="1"/>
          <p:nvPr/>
        </p:nvSpPr>
        <p:spPr>
          <a:xfrm>
            <a:off x="2194560" y="209397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5"/>
                </a:solidFill>
              </a:rPr>
              <a:t>Assinatura mensal paga pelo filho; 1º mês grátis. Âncora de valor (EVC): a tranquilidade que hoje só uma acompanhante entrega, por uma fração do custo de poucas horas dela por semana.</a:t>
            </a:r>
            <a:endParaRPr lang="en-US" sz="1000" dirty="0"/>
          </a:p>
        </p:txBody>
      </p:sp>
      <p:sp>
        <p:nvSpPr>
          <p:cNvPr id="10" name="pos PDV"/>
          <p:cNvSpPr/>
          <p:nvPr/>
        </p:nvSpPr>
        <p:spPr>
          <a:xfrm>
            <a:off x="548640" y="2660904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1" name="pos rótulo PDV"/>
          <p:cNvSpPr txBox="1"/>
          <p:nvPr/>
        </p:nvSpPr>
        <p:spPr>
          <a:xfrm>
            <a:off x="777240" y="26609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PDV</a:t>
            </a:r>
            <a:endParaRPr lang="en-US" sz="1400" dirty="0"/>
          </a:p>
        </p:txBody>
      </p:sp>
      <p:sp>
        <p:nvSpPr>
          <p:cNvPr id="12" name="pos texto PDV"/>
          <p:cNvSpPr txBox="1"/>
          <p:nvPr/>
        </p:nvSpPr>
        <p:spPr>
          <a:xfrm>
            <a:off x="2194560" y="271576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5"/>
                </a:solidFill>
              </a:rPr>
              <a:t>Venda direta ao filho (site + WhatsApp), com instalação assistida no tablet do idoso. Expansão: planos de saúde, farmácias e clínicas geriátricas como canais de indicação.</a:t>
            </a:r>
            <a:endParaRPr lang="en-US" sz="1000" dirty="0"/>
          </a:p>
        </p:txBody>
      </p:sp>
      <p:sp>
        <p:nvSpPr>
          <p:cNvPr id="13" name="pos Propaganda"/>
          <p:cNvSpPr/>
          <p:nvPr/>
        </p:nvSpPr>
        <p:spPr>
          <a:xfrm>
            <a:off x="548640" y="3282696"/>
            <a:ext cx="804672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4DC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4" name="pos rótulo Propaganda"/>
          <p:cNvSpPr txBox="1"/>
          <p:nvPr/>
        </p:nvSpPr>
        <p:spPr>
          <a:xfrm>
            <a:off x="777240" y="32826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Propaganda</a:t>
            </a:r>
            <a:endParaRPr lang="en-US" sz="1400" dirty="0"/>
          </a:p>
        </p:txBody>
      </p:sp>
      <p:sp>
        <p:nvSpPr>
          <p:cNvPr id="15" name="pos texto Propaganda"/>
          <p:cNvSpPr txBox="1"/>
          <p:nvPr/>
        </p:nvSpPr>
        <p:spPr>
          <a:xfrm>
            <a:off x="2194560" y="33375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5"/>
                </a:solidFill>
              </a:rPr>
              <a:t>Fala com o filho, não com o idoso: “sua mãe tem com quem conversar”. Tom de respeito e calma, sem jargão de tecnologia ou IA.</a:t>
            </a:r>
            <a:endParaRPr lang="en-US" sz="1000" dirty="0"/>
          </a:p>
        </p:txBody>
      </p:sp>
      <p:sp>
        <p:nvSpPr>
          <p:cNvPr id="16" name="statement"/>
          <p:cNvSpPr/>
          <p:nvPr/>
        </p:nvSpPr>
        <p:spPr>
          <a:xfrm>
            <a:off x="548640" y="3922776"/>
            <a:ext cx="8046720" cy="512064"/>
          </a:xfrm>
          <a:prstGeom prst="roundRect">
            <a:avLst>
              <a:gd name="adj" fmla="val 28571"/>
            </a:avLst>
          </a:prstGeom>
          <a:solidFill>
            <a:srgbClr val="2A1B18"/>
          </a:solidFill>
          <a:ln w="9525">
            <a:solidFill>
              <a:srgbClr val="2A1B18"/>
            </a:solidFill>
            <a:prstDash val="solid"/>
          </a:ln>
          <a:effectLst>
            <a:outerShdw sx="100000" sy="100000" kx="0" ky="0" algn="bl" rotWithShape="0" blurRad="152400" dist="38100" dir="5400000">
              <a:srgbClr val="2A1B18">
                <a:alpha val="7000"/>
              </a:srgbClr>
            </a:outerShdw>
          </a:effectLst>
        </p:spPr>
      </p:sp>
      <p:sp>
        <p:nvSpPr>
          <p:cNvPr id="17" name="statement texto"/>
          <p:cNvSpPr txBox="1"/>
          <p:nvPr/>
        </p:nvSpPr>
        <p:spPr>
          <a:xfrm>
            <a:off x="548640" y="392277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B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“Alguém com quem conversar </a:t>
            </a:r>
            <a:pPr algn="ctr" indent="0" marL="0">
              <a:buNone/>
            </a:pPr>
            <a:r>
              <a:rPr lang="en-US" sz="1800" i="1" dirty="0">
                <a:solidFill>
                  <a:srgbClr val="FB84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verdade.”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9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">
  <a:themeElements>
    <a:clrScheme name="Cora">
      <a:dk1>
        <a:srgbClr val="2A1B18"/>
      </a:dk1>
      <a:lt1>
        <a:srgbClr val="FFFFFF"/>
      </a:lt1>
      <a:dk2>
        <a:srgbClr val="6B5A55"/>
      </a:dk2>
      <a:lt2>
        <a:srgbClr val="FBF6F1"/>
      </a:lt2>
      <a:accent1>
        <a:srgbClr val="FC6B59"/>
      </a:accent1>
      <a:accent2>
        <a:srgbClr val="FB846D"/>
      </a:accent2>
      <a:accent3>
        <a:srgbClr val="FDB9A1"/>
      </a:accent3>
      <a:accent4>
        <a:srgbClr val="FDE3D6"/>
      </a:accent4>
      <a:accent5>
        <a:srgbClr val="8A9A7B"/>
      </a:accent5>
      <a:accent6>
        <a:srgbClr val="2A1B18"/>
      </a:accent6>
      <a:hlink>
        <a:srgbClr val="FC6B59"/>
      </a:hlink>
      <a:folHlink>
        <a:srgbClr val="FB846D"/>
      </a:folHlink>
    </a:clrScheme>
    <a:fontScheme name="Co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 · Exercício Aula Produto 2</dc:title>
  <dc:subject>Problem Canvas, VPC, JTBD, protótipo, mapa perceptual e posicionamento</dc:subject>
  <dc:creator>Projeto acadêmico ESPM</dc:creator>
  <cp:lastModifiedBy>Projeto acadêmico ESPM</cp:lastModifiedBy>
  <cp:revision>1</cp:revision>
  <dcterms:created xsi:type="dcterms:W3CDTF">2026-10-10T21:05:25Z</dcterms:created>
  <dcterms:modified xsi:type="dcterms:W3CDTF">2026-10-10T21:05:25Z</dcterms:modified>
</cp:coreProperties>
</file>